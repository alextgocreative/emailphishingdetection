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4"/>
    <p:sldMasterId id="2147483653" r:id="rId5"/>
  </p:sldMasterIdLst>
  <p:notesMasterIdLst>
    <p:notesMasterId r:id="rId32"/>
  </p:notesMasterIdLst>
  <p:sldIdLst>
    <p:sldId id="344" r:id="rId6"/>
    <p:sldId id="2147375602" r:id="rId7"/>
    <p:sldId id="2147375599" r:id="rId8"/>
    <p:sldId id="2147375598" r:id="rId9"/>
    <p:sldId id="2147375603" r:id="rId10"/>
    <p:sldId id="2147375340" r:id="rId11"/>
    <p:sldId id="2147347828" r:id="rId12"/>
    <p:sldId id="2147375581" r:id="rId13"/>
    <p:sldId id="2147375584" r:id="rId14"/>
    <p:sldId id="2147375579" r:id="rId15"/>
    <p:sldId id="2147375588" r:id="rId16"/>
    <p:sldId id="2147347709" r:id="rId17"/>
    <p:sldId id="2147375582" r:id="rId18"/>
    <p:sldId id="2147375583" r:id="rId19"/>
    <p:sldId id="2147375586" r:id="rId20"/>
    <p:sldId id="2147375604" r:id="rId21"/>
    <p:sldId id="2147375587" r:id="rId22"/>
    <p:sldId id="2147375605" r:id="rId23"/>
    <p:sldId id="2147375601" r:id="rId24"/>
    <p:sldId id="2147375608" r:id="rId25"/>
    <p:sldId id="2147375585" r:id="rId26"/>
    <p:sldId id="2147375591" r:id="rId27"/>
    <p:sldId id="2147375592" r:id="rId28"/>
    <p:sldId id="2147375597" r:id="rId29"/>
    <p:sldId id="2147375606" r:id="rId30"/>
    <p:sldId id="214737560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low" id="{4442D415-F821-43BD-A54E-A2006BF80B1D}">
          <p14:sldIdLst/>
        </p14:section>
        <p14:section name="Default Section" id="{E54CA9C2-EEB5-454E-A67B-B8931A580EB4}">
          <p14:sldIdLst>
            <p14:sldId id="344"/>
            <p14:sldId id="2147375602"/>
            <p14:sldId id="2147375599"/>
            <p14:sldId id="2147375598"/>
            <p14:sldId id="2147375603"/>
            <p14:sldId id="2147375340"/>
            <p14:sldId id="2147347828"/>
            <p14:sldId id="2147375581"/>
            <p14:sldId id="2147375584"/>
            <p14:sldId id="2147375579"/>
            <p14:sldId id="2147375588"/>
            <p14:sldId id="2147347709"/>
            <p14:sldId id="2147375582"/>
            <p14:sldId id="2147375583"/>
            <p14:sldId id="2147375586"/>
            <p14:sldId id="2147375604"/>
            <p14:sldId id="2147375587"/>
            <p14:sldId id="2147375605"/>
            <p14:sldId id="2147375601"/>
            <p14:sldId id="2147375608"/>
            <p14:sldId id="2147375585"/>
            <p14:sldId id="2147375591"/>
            <p14:sldId id="2147375592"/>
            <p14:sldId id="2147375597"/>
            <p14:sldId id="2147375606"/>
          </p14:sldIdLst>
        </p14:section>
        <p14:section name="End" id="{3C5D27BD-D80F-4E04-A752-6686BA64B902}">
          <p14:sldIdLst>
            <p14:sldId id="21473756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CD7306-05E6-C559-3639-09ABB0EAD191}" name="Dan Mlynarski" initials="" userId="S::daniel.mlynarski@opswat.com::1a577374-fcc6-41bc-92d8-2710c39dbc73" providerId="AD"/>
  <p188:author id="{AC6A2886-1362-0B8D-96A9-79E04FC226BD}" name="Paul J. Bartolone" initials="PB" userId="S::paul.bartolone@opswat.com::3a693fa0-c53d-4235-9904-9ab83c06dda3" providerId="AD"/>
  <p188:author id="{384DD5CC-BF1C-5844-F322-37DA6ED47365}" name="Berry Blanton" initials="BB" userId="S::berry.blanton@opswat.com::f8b543c3-2cd8-426f-b6f6-15bc17c62dcb" providerId="AD"/>
  <p188:author id="{141604D8-A220-AF0B-CDF1-A0F59572B121}" name="Jason Richard" initials="JR" userId="S::jason.richard@opswat.com::942fa77c-790d-4a85-926e-f38ecfc84d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A6FD"/>
    <a:srgbClr val="03348D"/>
    <a:srgbClr val="09193D"/>
    <a:srgbClr val="1854C3"/>
    <a:srgbClr val="344565"/>
    <a:srgbClr val="09193B"/>
    <a:srgbClr val="081738"/>
    <a:srgbClr val="061127"/>
    <a:srgbClr val="07132D"/>
    <a:srgbClr val="081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DBDF4-25AE-51FA-76BE-F8CBF1CA5E50}" v="517" dt="2025-09-02T12:35:10.590"/>
    <p1510:client id="{0C1CADDC-DDEE-8CA2-A6BF-8D9CA9B6A40B}" v="442" dt="2025-09-03T07:35:47.808"/>
    <p1510:client id="{13E31C38-D863-0809-BCD1-C6018F538EE1}" v="616" dt="2025-09-03T05:36:14.953"/>
    <p1510:client id="{15E3A5B0-CA37-2028-5917-607B85F20989}" v="1480" dt="2025-09-02T11:59:30.009"/>
    <p1510:client id="{1F1B23C9-E2A8-1E91-91FC-7CFC54DD2EAF}" v="32" dt="2025-09-04T06:54:57.129"/>
    <p1510:client id="{2D5D6F75-ED67-42DC-9EC4-99A4A93F7F42}" v="229" dt="2025-09-02T12:27:04.558"/>
    <p1510:client id="{4336397B-FA61-92E0-3463-724CB44450E2}" v="67" dt="2025-09-03T10:02:21.293"/>
    <p1510:client id="{49D3252F-EF4C-9081-251C-6D6FCC44A226}" v="30" dt="2025-09-02T12:34:55.549"/>
    <p1510:client id="{547ECC4A-D618-F1C7-29E6-B742285C3C71}" v="417" dt="2025-09-03T07:23:28.872"/>
    <p1510:client id="{54F6EBAD-53B9-A7C5-370C-0D5D764E0BC8}" v="23" dt="2025-09-03T07:02:14.946"/>
    <p1510:client id="{5ADE3E52-958B-5287-1F64-EE68A35C65CD}" v="901" dt="2025-09-03T06:01:57.038"/>
    <p1510:client id="{7CE31611-84AA-424A-3B35-E35FEC45A788}" v="29" dt="2025-09-03T08:55:41.985"/>
    <p1510:client id="{839A2869-0F39-CDE6-CF7C-0AF8F2D7CEE6}" v="4" dt="2025-09-03T07:15:54.979"/>
    <p1510:client id="{903C111B-AEB8-0CAA-586D-893DADD829AC}" v="414" dt="2025-09-02T12:13:25.827"/>
    <p1510:client id="{908FE746-C47F-3B45-DB3B-476E2278AA82}" v="40" dt="2025-09-03T07:39:48.346"/>
    <p1510:client id="{9573E675-6544-C207-B71B-4E7717851D42}" v="1084" dt="2025-09-03T07:56:19.165"/>
    <p1510:client id="{9B5176C2-A17F-0779-373D-E8A2F6CDD507}" v="505" dt="2025-09-02T12:09:26.137"/>
    <p1510:client id="{A34D3FD9-B882-4200-97D1-2E81D689E31D}" v="47" dt="2025-09-03T07:11:44.478"/>
    <p1510:client id="{AF31A210-F1C3-3A2D-7A1C-F7368E48F4DC}" v="19" dt="2025-09-03T06:54:57.756"/>
    <p1510:client id="{B1F17FAD-5A92-05C1-CC72-63335FBB2B01}" v="1432" dt="2025-09-02T12:33:05.814"/>
    <p1510:client id="{BB1B8F92-DB60-0784-CC53-8EAE2235359D}" v="1" dt="2025-09-02T12:36:37.494"/>
    <p1510:client id="{C3D426F5-5EB8-641C-EAED-496E12C438CE}" v="326" dt="2025-09-02T12:00:13.433"/>
    <p1510:client id="{C4A85E59-206A-4626-1F56-8D5B67198582}" v="96" dt="2025-09-03T07:32:01.623"/>
    <p1510:client id="{CE4C247A-D21D-BF0A-371B-01561D1A8114}" v="236" dt="2025-09-02T12:58:00.417"/>
    <p1510:client id="{E1F1AA72-1239-97F6-48ED-064517B415D6}" v="39" dt="2025-09-03T07:53:57.510"/>
    <p1510:client id="{E3EC686C-BB93-CF30-BAF5-95236EA9A37B}" v="512" dt="2025-09-03T07:17:51.435"/>
    <p1510:client id="{EAD8AE8A-9D52-1102-800A-3F2AB198D069}" v="25" dt="2025-09-02T12:58:47.968"/>
    <p1510:client id="{EE8EBD69-0B8B-B3D6-1632-F81E44BFED4E}" v="129" dt="2025-09-04T08:41:20.835"/>
    <p1510:client id="{F575D2BC-7E96-187C-D0E6-15A781FFE3F1}" v="114" dt="2025-09-03T06:11:38.985"/>
    <p1510:client id="{F9A76040-30F7-9B3C-2E35-B3AA4724A7BD}" v="52" dt="2025-09-03T07:21:02.102"/>
    <p1510:client id="{FD373684-7CA6-1319-AE52-DC95F018713E}" v="1131" dt="2025-09-02T12:56:08.403"/>
  </p1510:revLst>
</p1510:revInfo>
</file>

<file path=ppt/tableStyles.xml><?xml version="1.0" encoding="utf-8"?>
<a:tblStyleLst xmlns:a="http://schemas.openxmlformats.org/drawingml/2006/main" def="{E8034E78-7F5D-4C2E-B375-FC64B27BC91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implon Norm" panose="020B0500030000000000" pitchFamily="34" charset="77"/>
              </a:defRPr>
            </a:lvl1pPr>
          </a:lstStyle>
          <a:p>
            <a:fld id="{AF4B7D76-6D35-3045-BA86-E75B83E6EBF6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implon Norm" panose="020B0500030000000000" pitchFamily="34" charset="77"/>
              </a:defRPr>
            </a:lvl1pPr>
          </a:lstStyle>
          <a:p>
            <a:fld id="{E80480A6-17DF-074A-933C-1D2BD6CEA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Simplon Norm" panose="020B0500030000000000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Simplon Norm" panose="020B0500030000000000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Simplon Norm" panose="020B0500030000000000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Simplon Norm" panose="020B0500030000000000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Simplon Norm" panose="020B0500030000000000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80A6-17DF-074A-933C-1D2BD6CEA3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3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3D43-8A12-04D3-3E2C-BE099BDB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29775-8403-BFED-462D-5BE404255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D569A-CFDA-E9AF-5A7A-14715EFF9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CC1F1-9D83-EE7D-FE90-2A4AD1D0E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80A6-17DF-074A-933C-1D2BD6CEA39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40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5B95-F6C1-DCBC-04F4-863FE554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CCD71-52FD-5749-D161-478F08E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24BF7-2EBD-B982-CC21-491AED596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22C8-5E15-0305-AEFC-019FD9CB8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80A6-17DF-074A-933C-1D2BD6CEA39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8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">
    <p:bg>
      <p:bgPr>
        <a:gradFill>
          <a:gsLst>
            <a:gs pos="0">
              <a:schemeClr val="tx1">
                <a:lumMod val="90000"/>
                <a:lumOff val="10000"/>
              </a:schemeClr>
            </a:gs>
            <a:gs pos="50000">
              <a:schemeClr val="tx1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82C945-6969-D59F-724B-64FBA2658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490603"/>
            <a:ext cx="7899662" cy="694742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>
              <a:lnSpc>
                <a:spcPct val="80000"/>
              </a:lnSpc>
              <a:defRPr sz="54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E0BC4C-DD83-C29F-4BA0-9FD077DFEA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042492"/>
            <a:ext cx="7899662" cy="437043"/>
          </a:xfrm>
          <a:prstGeom prst="rect">
            <a:avLst/>
          </a:prstGeom>
        </p:spPr>
        <p:txBody>
          <a:bodyPr wrap="square" lIns="914400" tIns="91440" rIns="0" bIns="91440" anchor="b">
            <a:spAutoFit/>
          </a:bodyPr>
          <a:lstStyle>
            <a:lvl1pPr marL="0" indent="0">
              <a:buNone/>
              <a:defRPr sz="1800" b="0" i="0" cap="all" spc="6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Presentation Lead-in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A9EF30-355D-159B-5C65-CF089714AE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4622388"/>
            <a:ext cx="7899961" cy="2235612"/>
          </a:xfrm>
          <a:prstGeom prst="rect">
            <a:avLst/>
          </a:prstGeom>
        </p:spPr>
        <p:txBody>
          <a:bodyPr wrap="square" lIns="914400" tIns="457200" rIns="0" bIns="457200" anchor="b">
            <a:spAutoFit/>
          </a:bodyPr>
          <a:lstStyle>
            <a:lvl1pPr marL="7938" indent="0"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7938" indent="0">
              <a:lnSpc>
                <a:spcPct val="112000"/>
              </a:lnSpc>
              <a:spcBef>
                <a:spcPts val="0"/>
              </a:spcBef>
              <a:buNone/>
              <a:tabLst/>
              <a:defRPr sz="11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7938" indent="0">
              <a:buNone/>
              <a:tabLst/>
              <a:defRPr lang="en-US" sz="1400" b="0" i="0" kern="1200" spc="100" baseline="0" dirty="0" smtClean="0">
                <a:solidFill>
                  <a:schemeClr val="accent1"/>
                </a:solidFill>
                <a:latin typeface="Simplon Norm" panose="020B0500030000000000" pitchFamily="34" charset="77"/>
                <a:ea typeface="+mn-ea"/>
                <a:cs typeface="+mn-cs"/>
              </a:defRPr>
            </a:lvl3pPr>
            <a:lvl4pPr marL="7938" indent="0">
              <a:buNone/>
              <a:tabLst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7938" indent="0">
              <a:buNone/>
              <a:tabLst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7pPr>
              <a:defRPr lang="en-US" sz="1800" b="0" i="0" kern="1200" spc="100" baseline="0" dirty="0" smtClean="0">
                <a:solidFill>
                  <a:schemeClr val="accent1"/>
                </a:solidFill>
                <a:latin typeface="Simplon Norm" panose="020B0500030000000000" pitchFamily="34" charset="77"/>
                <a:ea typeface="+mn-ea"/>
                <a:cs typeface="+mn-cs"/>
              </a:defRPr>
            </a:lvl7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Prepared by: Name</a:t>
            </a:r>
          </a:p>
          <a:p>
            <a:pPr lvl="1"/>
            <a:r>
              <a:rPr lang="en-US"/>
              <a:t>Prepared for: Name</a:t>
            </a:r>
          </a:p>
          <a:p>
            <a:pPr lvl="1"/>
            <a:r>
              <a:rPr lang="en-US"/>
              <a:t>Prepared Date:</a:t>
            </a:r>
          </a:p>
          <a:p>
            <a:pPr marL="0" lvl="2" indent="-2963862" algn="l" defTabSz="914400" rtl="0" eaLnBrk="1" latinLnBrk="0" hangingPunct="1">
              <a:lnSpc>
                <a:spcPct val="112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</a:pPr>
            <a:r>
              <a:rPr lang="en-US"/>
              <a:t>Call to Action or Contact Info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83B8394-9AC4-2CD2-27DB-2EEC94CD2B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185345"/>
            <a:ext cx="7899662" cy="437043"/>
          </a:xfrm>
          <a:prstGeom prst="rect">
            <a:avLst/>
          </a:prstGeom>
        </p:spPr>
        <p:txBody>
          <a:bodyPr wrap="square" lIns="914400" tIns="91440" rIns="0" bIns="91440" anchor="b">
            <a:spAutoFit/>
          </a:bodyPr>
          <a:lstStyle>
            <a:lvl1pPr marL="0" indent="0">
              <a:buNone/>
              <a:defRPr sz="1800" b="0" i="0" cap="none" spc="0" baseline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 sz="1800"/>
              <a:t>Presentation context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F3DA93E-10BE-D03A-1563-38CDE76E6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312" y="1165695"/>
            <a:ext cx="3042519" cy="474844"/>
          </a:xfrm>
          <a:prstGeom prst="rect">
            <a:avLst/>
          </a:prstGeom>
        </p:spPr>
      </p:pic>
      <p:pic>
        <p:nvPicPr>
          <p:cNvPr id="6" name="Picture 5" descr="A blue and black background&#10;&#10;Description automatically generated">
            <a:extLst>
              <a:ext uri="{FF2B5EF4-FFF2-40B4-BE49-F238E27FC236}">
                <a16:creationId xmlns:a16="http://schemas.microsoft.com/office/drawing/2014/main" id="{5821E875-5F9E-20C7-E33D-9FF1B7063C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1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163FE42-3445-F1FF-F601-62809CE7A9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914400"/>
            <a:ext cx="2356414" cy="367764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A8201D43-2250-5737-F1BE-42FD775AF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322755"/>
            <a:ext cx="7629236" cy="1359539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>
              <a:lnSpc>
                <a:spcPct val="80000"/>
              </a:lnSpc>
              <a:defRPr sz="54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565D42B-154B-8171-0D43-BE7D35D9B9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35209"/>
            <a:ext cx="7629236" cy="252377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 marL="0" indent="0">
              <a:buNone/>
              <a:defRPr sz="1800" b="0" i="0" cap="all" spc="6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Section Lead-in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3FE0C-8A9F-CFE6-403C-56F9EC0AA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682294"/>
            <a:ext cx="7629236" cy="1175706"/>
          </a:xfrm>
          <a:prstGeom prst="rect">
            <a:avLst/>
          </a:prstGeom>
        </p:spPr>
        <p:txBody>
          <a:bodyPr wrap="square" lIns="914400" tIns="0" rIns="0" bIns="914400" anchor="b">
            <a:spAutoFit/>
          </a:bodyPr>
          <a:lstStyle>
            <a:lvl1pPr marL="0" indent="0">
              <a:buNone/>
              <a:defRPr sz="1800" b="0" i="0" cap="none" spc="0" baseline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 sz="1800"/>
              <a:t>Section context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7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CD5D2A6-2D66-4C73-1B67-35A0B4D0B3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914400"/>
            <a:ext cx="2356414" cy="367764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7F259477-0EC1-545C-80C6-79CF5999C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322755"/>
            <a:ext cx="7629236" cy="1359539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>
              <a:lnSpc>
                <a:spcPct val="80000"/>
              </a:lnSpc>
              <a:defRPr sz="54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897FC3-587E-F345-4F0F-0A7F75C21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35209"/>
            <a:ext cx="7629236" cy="252377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 marL="0" indent="0">
              <a:buNone/>
              <a:defRPr sz="1800" b="0" i="0" cap="all" spc="6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Section Lead-in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5390F8-12B1-F523-C472-A3D1F5652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682294"/>
            <a:ext cx="7629236" cy="1175706"/>
          </a:xfrm>
          <a:prstGeom prst="rect">
            <a:avLst/>
          </a:prstGeom>
        </p:spPr>
        <p:txBody>
          <a:bodyPr wrap="square" lIns="914400" tIns="0" rIns="0" bIns="914400" anchor="b">
            <a:spAutoFit/>
          </a:bodyPr>
          <a:lstStyle>
            <a:lvl1pPr marL="0" indent="0">
              <a:buNone/>
              <a:defRPr sz="1800" b="0" i="0" cap="none" spc="0" baseline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 sz="1800"/>
              <a:t>Section context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6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ower Statement">
    <p:bg>
      <p:bgPr>
        <a:gradFill>
          <a:gsLst>
            <a:gs pos="0">
              <a:schemeClr val="tx1">
                <a:lumMod val="90000"/>
                <a:lumOff val="10000"/>
              </a:schemeClr>
            </a:gs>
            <a:gs pos="58000">
              <a:schemeClr val="tx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31FAFC-B887-48CA-4008-166592DBD4B1}"/>
              </a:ext>
            </a:extLst>
          </p:cNvPr>
          <p:cNvSpPr/>
          <p:nvPr userDrawn="1"/>
        </p:nvSpPr>
        <p:spPr>
          <a:xfrm>
            <a:off x="947921" y="5163766"/>
            <a:ext cx="2612188" cy="87615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369083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E2029F-67FC-2DA0-4BB8-5ED25726DDC6}"/>
              </a:ext>
            </a:extLst>
          </p:cNvPr>
          <p:cNvSpPr/>
          <p:nvPr userDrawn="1"/>
        </p:nvSpPr>
        <p:spPr>
          <a:xfrm>
            <a:off x="-161365" y="2266336"/>
            <a:ext cx="8153392" cy="20793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4162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E6FD9B6-F3D0-86BA-850E-BEC3B613DB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229" t="38248" r="26761" b="42622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effectLst/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150DB55-AE01-9C24-D570-3DBD816476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388" y="5371444"/>
            <a:ext cx="2612721" cy="40776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D89809-E425-81F3-E823-4EFFB510A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0"/>
            <a:ext cx="7901797" cy="3838575"/>
          </a:xfrm>
          <a:prstGeom prst="rect">
            <a:avLst/>
          </a:prstGeom>
        </p:spPr>
        <p:txBody>
          <a:bodyPr lIns="914400" tIns="0" rIns="914400" bIns="0" anchor="b"/>
          <a:lstStyle>
            <a:lvl1pPr marL="0" indent="0">
              <a:buNone/>
              <a:defRPr sz="3600" b="0" i="0">
                <a:solidFill>
                  <a:schemeClr val="bg1"/>
                </a:solidFill>
                <a:effectLst>
                  <a:glow rad="114300">
                    <a:schemeClr val="accent2">
                      <a:alpha val="9000"/>
                    </a:schemeClr>
                  </a:glow>
                </a:effectLst>
                <a:latin typeface="Simplon Norm" panose="020B0500030000000000" pitchFamily="34" charset="77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A powerful statement is what should go right here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47269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Dark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1E6B4C-4E0D-F0EC-3005-399D937D18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942938"/>
            <a:ext cx="10538298" cy="3013774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0BB5EF9-D727-A9AE-9D48-AED83DB2D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393702"/>
            <a:ext cx="1053829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6328EB-4AA4-E369-9E3E-CE4BCB537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92387"/>
            <a:ext cx="1053829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E23FD-E200-FBF0-20BA-0C0725906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548640"/>
            <a:ext cx="1053829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35453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Dark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1E6B4C-4E0D-F0EC-3005-399D937D18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0BB5EF9-D727-A9AE-9D48-AED83DB2D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6328EB-4AA4-E369-9E3E-CE4BCB537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E23FD-E200-FBF0-20BA-0C0725906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376186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Dark Boxes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1E6B4C-4E0D-F0EC-3005-399D937D18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579" y="2573517"/>
            <a:ext cx="2468880" cy="2743200"/>
          </a:xfrm>
          <a:prstGeom prst="roundRect">
            <a:avLst>
              <a:gd name="adj" fmla="val 5160"/>
            </a:avLst>
          </a:prstGeom>
          <a:gradFill>
            <a:gsLst>
              <a:gs pos="1000">
                <a:schemeClr val="tx1">
                  <a:lumMod val="90000"/>
                  <a:lumOff val="10000"/>
                </a:schemeClr>
              </a:gs>
              <a:gs pos="56000">
                <a:schemeClr val="tx1"/>
              </a:gs>
            </a:gsLst>
            <a:lin ang="4200000" scaled="0"/>
          </a:gra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63526BE-FE26-CA90-A5C5-18487DFDD3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79538" y="2573517"/>
            <a:ext cx="2472966" cy="2743200"/>
          </a:xfrm>
          <a:prstGeom prst="roundRect">
            <a:avLst>
              <a:gd name="adj" fmla="val 5160"/>
            </a:avLst>
          </a:prstGeom>
          <a:gradFill>
            <a:gsLst>
              <a:gs pos="1000">
                <a:schemeClr val="tx1">
                  <a:lumMod val="90000"/>
                  <a:lumOff val="10000"/>
                </a:schemeClr>
              </a:gs>
              <a:gs pos="56000">
                <a:schemeClr val="tx1"/>
              </a:gs>
            </a:gsLst>
            <a:lin ang="4200000" scaled="0"/>
          </a:gra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0E0C2F0-F93D-318E-EDE8-28A4D89835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9497" y="2573517"/>
            <a:ext cx="2472966" cy="2743200"/>
          </a:xfrm>
          <a:prstGeom prst="roundRect">
            <a:avLst>
              <a:gd name="adj" fmla="val 5160"/>
            </a:avLst>
          </a:prstGeom>
          <a:gradFill>
            <a:gsLst>
              <a:gs pos="1000">
                <a:schemeClr val="tx1">
                  <a:lumMod val="90000"/>
                  <a:lumOff val="10000"/>
                </a:schemeClr>
              </a:gs>
              <a:gs pos="56000">
                <a:schemeClr val="tx1"/>
              </a:gs>
            </a:gsLst>
            <a:lin ang="4200000" scaled="0"/>
          </a:gra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14448EA-8A4C-F240-2627-7CEE265DA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99455" y="2574920"/>
            <a:ext cx="2472966" cy="2743200"/>
          </a:xfrm>
          <a:prstGeom prst="roundRect">
            <a:avLst>
              <a:gd name="adj" fmla="val 5160"/>
            </a:avLst>
          </a:prstGeom>
          <a:gradFill>
            <a:gsLst>
              <a:gs pos="1000">
                <a:schemeClr val="tx1">
                  <a:lumMod val="90000"/>
                  <a:lumOff val="10000"/>
                </a:schemeClr>
              </a:gs>
              <a:gs pos="56000">
                <a:schemeClr val="tx1"/>
              </a:gs>
            </a:gsLst>
            <a:lin ang="4200000" scaled="0"/>
          </a:gra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5FB4402-6012-F511-BF6B-08019400CD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8FC8B8-E739-8EE7-B192-1E24C3811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D0C9A60-BB1D-4D7D-B140-F02F236689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30961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45B7475-C134-0D31-74AB-AC72084E2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619" y="2220705"/>
            <a:ext cx="2468880" cy="4318598"/>
          </a:xfrm>
          <a:prstGeom prst="roundRect">
            <a:avLst>
              <a:gd name="adj" fmla="val 5160"/>
            </a:avLst>
          </a:prstGeom>
          <a:gradFill>
            <a:gsLst>
              <a:gs pos="30000">
                <a:schemeClr val="tx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1280160" rIns="182880" bIns="36576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noFill/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noFill/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15A2CF-2DE2-18F7-C067-D1319E80D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0510" y="2220705"/>
            <a:ext cx="2468880" cy="4318598"/>
          </a:xfrm>
          <a:prstGeom prst="roundRect">
            <a:avLst>
              <a:gd name="adj" fmla="val 5160"/>
            </a:avLst>
          </a:prstGeom>
          <a:gradFill>
            <a:gsLst>
              <a:gs pos="30000">
                <a:schemeClr val="tx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1280160" rIns="182880" bIns="365760">
            <a:noAutofit/>
          </a:bodyPr>
          <a:lstStyle>
            <a:lvl1pPr>
              <a:defRPr lang="en-US" sz="2000" b="0" i="0">
                <a:noFill/>
                <a:latin typeface="Simplon Norm" panose="020B0500030000000000" pitchFamily="34" charset="77"/>
              </a:defRPr>
            </a:lvl1pPr>
            <a:lvl2pPr>
              <a:defRPr lang="en-US" sz="1400" b="0" i="0">
                <a:noFill/>
                <a:latin typeface="Simplon Norm Light" panose="020B0300030000000000" pitchFamily="34" charset="77"/>
              </a:defRPr>
            </a:lvl2pPr>
          </a:lstStyle>
          <a:p>
            <a:pPr marL="11113" lvl="0" indent="0" algn="ctr">
              <a:spcBef>
                <a:spcPts val="1600"/>
              </a:spcBef>
              <a:buNone/>
              <a:tabLst/>
            </a:pPr>
            <a:r>
              <a:rPr lang="en-US"/>
              <a:t>Headline Level 1</a:t>
            </a:r>
          </a:p>
          <a:p>
            <a:pPr marL="11113" lvl="1" indent="0" algn="ctr">
              <a:lnSpc>
                <a:spcPct val="133000"/>
              </a:lnSpc>
              <a:spcBef>
                <a:spcPts val="0"/>
              </a:spcBef>
              <a:buNone/>
              <a:tabLst/>
            </a:pPr>
            <a:r>
              <a:rPr lang="en-US"/>
              <a:t>Body Copy Level 1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45A085A-9E11-1352-CA30-C1201780F6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3401" y="2220705"/>
            <a:ext cx="2468880" cy="4318598"/>
          </a:xfrm>
          <a:prstGeom prst="roundRect">
            <a:avLst>
              <a:gd name="adj" fmla="val 5160"/>
            </a:avLst>
          </a:prstGeom>
          <a:gradFill>
            <a:gsLst>
              <a:gs pos="30000">
                <a:schemeClr val="tx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1280160" rIns="182880" bIns="36576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noFill/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noFill/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916BC7E-09AC-FDFA-7AA8-7E71B2CFFE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6291" y="2220705"/>
            <a:ext cx="2468880" cy="4318598"/>
          </a:xfrm>
          <a:prstGeom prst="roundRect">
            <a:avLst>
              <a:gd name="adj" fmla="val 5160"/>
            </a:avLst>
          </a:prstGeom>
          <a:gradFill>
            <a:gsLst>
              <a:gs pos="30000">
                <a:schemeClr val="tx1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1280160" rIns="182880" bIns="36576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noFill/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noFill/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7DA4056-F12F-15D6-1E34-DC958C1582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flipV="1">
            <a:off x="-1486327" y="-566057"/>
            <a:ext cx="15010942" cy="4479472"/>
          </a:xfrm>
          <a:prstGeom prst="roundRect">
            <a:avLst>
              <a:gd name="adj" fmla="val 0"/>
            </a:avLst>
          </a:prstGeom>
          <a:noFill/>
          <a:ln w="12700">
            <a:gradFill>
              <a:gsLst>
                <a:gs pos="2000">
                  <a:schemeClr val="tx1">
                    <a:alpha val="0"/>
                  </a:schemeClr>
                </a:gs>
                <a:gs pos="9000">
                  <a:schemeClr val="accent1"/>
                </a:gs>
                <a:gs pos="93000">
                  <a:schemeClr val="tx1">
                    <a:alpha val="0"/>
                  </a:schemeClr>
                </a:gs>
                <a:gs pos="89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</p:spPr>
        <p:txBody>
          <a:bodyPr wrap="square" lIns="0" tIns="0" rIns="0" bIns="0">
            <a:noAutofit/>
          </a:bodyPr>
          <a:lstStyle>
            <a:lvl1pPr>
              <a:defRPr lang="en-US" sz="100" b="1" i="0" dirty="0">
                <a:noFill/>
                <a:latin typeface="Simplon Norm Bold" panose="020B0500030000000000" pitchFamily="34" charset="77"/>
              </a:defRPr>
            </a:lvl1pPr>
          </a:lstStyle>
          <a:p>
            <a:pPr marL="11113" lvl="0" indent="0" algn="ctr">
              <a:spcBef>
                <a:spcPts val="1600"/>
              </a:spcBef>
              <a:buNone/>
              <a:tabLst/>
            </a:pP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4E175E0-73E8-EE48-83DD-ADB7B83C72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9448" y="3836648"/>
            <a:ext cx="121356" cy="11568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127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0000">
                  <a:schemeClr val="accent1"/>
                </a:gs>
              </a:gsLst>
              <a:lin ang="3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800" b="0" i="0" dirty="0">
                <a:noFill/>
                <a:latin typeface="Simplon Norm Light" panose="020B0300030000000000" pitchFamily="34" charset="77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13D9E11D-E831-6795-14D4-75FE9E3051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04271" y="3836648"/>
            <a:ext cx="121356" cy="11568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127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0000">
                  <a:schemeClr val="accent1"/>
                </a:gs>
              </a:gsLst>
              <a:lin ang="3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800" b="0" i="0" dirty="0">
                <a:noFill/>
                <a:latin typeface="Simplon Norm Light" panose="020B0300030000000000" pitchFamily="34" charset="77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08205E-F0B6-DCB6-D38B-FEA24662D19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467163" y="3836648"/>
            <a:ext cx="121356" cy="11568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127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0000">
                  <a:schemeClr val="accent1"/>
                </a:gs>
              </a:gsLst>
              <a:lin ang="3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800" b="0" i="0" dirty="0">
                <a:noFill/>
                <a:latin typeface="Simplon Norm Light" panose="020B0300030000000000" pitchFamily="34" charset="77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EE2BFFF-5A66-910D-4446-29D1F5383F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269375" y="3836648"/>
            <a:ext cx="121356" cy="11568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127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0000">
                  <a:schemeClr val="accent1"/>
                </a:gs>
              </a:gsLst>
              <a:lin ang="3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800" b="0" i="0" dirty="0">
                <a:noFill/>
                <a:latin typeface="Simplon Norm Light" panose="020B0300030000000000" pitchFamily="34" charset="77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6C4069E5-2176-5D8A-5C9C-68E5E46C01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7619" y="4173651"/>
            <a:ext cx="2468880" cy="67294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wrap="square" lIns="0" tIns="0" rIns="0" bIns="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4800" b="1" i="0">
                <a:gradFill>
                  <a:gsLst>
                    <a:gs pos="1000">
                      <a:schemeClr val="accent1">
                        <a:lumMod val="20000"/>
                        <a:lumOff val="80000"/>
                      </a:schemeClr>
                    </a:gs>
                    <a:gs pos="56000">
                      <a:schemeClr val="accent1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Simplon Norm Bold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2004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B223AF-EA03-7C91-C746-FF011FF1BC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30509" y="4173651"/>
            <a:ext cx="2468880" cy="67294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wrap="square" lIns="0" tIns="0" rIns="0" bIns="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4800" b="1" i="0">
                <a:gradFill>
                  <a:gsLst>
                    <a:gs pos="1000">
                      <a:schemeClr val="accent1">
                        <a:lumMod val="20000"/>
                        <a:lumOff val="80000"/>
                      </a:schemeClr>
                    </a:gs>
                    <a:gs pos="56000">
                      <a:schemeClr val="accent1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Simplon Norm Bold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2010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8FCEFDDF-2333-BED7-8750-89C23835A5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3401" y="4173651"/>
            <a:ext cx="2468880" cy="67294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wrap="square" lIns="0" tIns="0" rIns="0" bIns="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4800" b="1" i="0">
                <a:gradFill>
                  <a:gsLst>
                    <a:gs pos="1000">
                      <a:schemeClr val="accent1">
                        <a:lumMod val="20000"/>
                        <a:lumOff val="80000"/>
                      </a:schemeClr>
                    </a:gs>
                    <a:gs pos="56000">
                      <a:schemeClr val="accent1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Simplon Norm Bold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2015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02B1DF9F-44BB-22F1-404E-A0A205391B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56291" y="4173651"/>
            <a:ext cx="2468880" cy="67294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wrap="square" lIns="0" tIns="0" rIns="0" bIns="0">
            <a:no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4800" b="1" i="0">
                <a:gradFill>
                  <a:gsLst>
                    <a:gs pos="1000">
                      <a:schemeClr val="accent1">
                        <a:lumMod val="20000"/>
                        <a:lumOff val="80000"/>
                      </a:schemeClr>
                    </a:gs>
                    <a:gs pos="56000">
                      <a:schemeClr val="accent1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Simplon Norm Bold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2024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B5A9872-24EB-449E-1870-339F03E1CF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39303"/>
            <a:ext cx="12192000" cy="317500"/>
          </a:xfrm>
          <a:prstGeom prst="rect">
            <a:avLst/>
          </a:prstGeom>
        </p:spPr>
      </p:pic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234AC9F4-2CC4-F86B-B016-6EF1B350F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BEC1452B-5F7A-2171-4FFD-58EBB9BB7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9C3AA5A-B929-0FCE-D103-E9FEF4A0C2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BB644416-93D5-12D1-F0F6-8434443994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6829" y="2768770"/>
            <a:ext cx="2468880" cy="558525"/>
          </a:xfrm>
          <a:prstGeom prst="roundRect">
            <a:avLst>
              <a:gd name="adj" fmla="val 5160"/>
            </a:avLst>
          </a:prstGeom>
          <a:noFill/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0" rIns="182880" bIns="0">
            <a:sp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4737C6C4-4F79-E2DF-C37B-FE42AF72EF5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29720" y="2768770"/>
            <a:ext cx="2468880" cy="558525"/>
          </a:xfrm>
          <a:prstGeom prst="roundRect">
            <a:avLst>
              <a:gd name="adj" fmla="val 5160"/>
            </a:avLst>
          </a:prstGeom>
          <a:noFill/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0" rIns="182880" bIns="0">
            <a:spAutoFit/>
          </a:bodyPr>
          <a:lstStyle>
            <a:lvl1pPr>
              <a:defRPr lang="en-US"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>
              <a:defRPr lang="en-US"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</a:lstStyle>
          <a:p>
            <a:pPr marL="11113" lvl="0" indent="0" algn="ctr">
              <a:spcBef>
                <a:spcPts val="1600"/>
              </a:spcBef>
              <a:buNone/>
              <a:tabLst/>
            </a:pPr>
            <a:r>
              <a:rPr lang="en-US"/>
              <a:t>Headline Level 1</a:t>
            </a:r>
          </a:p>
          <a:p>
            <a:pPr marL="11113" lvl="1" indent="0" algn="ctr">
              <a:lnSpc>
                <a:spcPct val="133000"/>
              </a:lnSpc>
              <a:spcBef>
                <a:spcPts val="0"/>
              </a:spcBef>
              <a:buNone/>
              <a:tabLst/>
            </a:pPr>
            <a:r>
              <a:rPr lang="en-US"/>
              <a:t>Body Copy Level 1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71BF7185-351E-8970-6B89-8B8451E52D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2611" y="2768770"/>
            <a:ext cx="2468880" cy="558525"/>
          </a:xfrm>
          <a:prstGeom prst="roundRect">
            <a:avLst>
              <a:gd name="adj" fmla="val 5160"/>
            </a:avLst>
          </a:prstGeom>
          <a:noFill/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0" rIns="182880" bIns="0">
            <a:sp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22FCD8B1-C188-0DCA-6EAB-730CFB01C6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5501" y="2768770"/>
            <a:ext cx="2468880" cy="558525"/>
          </a:xfrm>
          <a:prstGeom prst="roundRect">
            <a:avLst>
              <a:gd name="adj" fmla="val 5160"/>
            </a:avLst>
          </a:prstGeom>
          <a:noFill/>
          <a:ln w="19050">
            <a:gradFill>
              <a:gsLst>
                <a:gs pos="0">
                  <a:schemeClr val="tx1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txBody>
          <a:bodyPr wrap="square" lIns="182880" tIns="0" rIns="182880" bIns="0">
            <a:sp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</p:txBody>
      </p:sp>
    </p:spTree>
    <p:extLst>
      <p:ext uri="{BB962C8B-B14F-4D97-AF65-F5344CB8AC3E}">
        <p14:creationId xmlns:p14="http://schemas.microsoft.com/office/powerpoint/2010/main" val="122484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Dark 3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C88BD2-8313-2084-6DD8-5DB3752999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F69D17-C393-4F5F-D8F4-A0EA486E91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3135453"/>
            <a:ext cx="3200400" cy="1252138"/>
          </a:xfrm>
          <a:prstGeom prst="rect">
            <a:avLst/>
          </a:prstGeom>
          <a:ln w="12700">
            <a:gradFill>
              <a:gsLst>
                <a:gs pos="99000">
                  <a:schemeClr val="bg2">
                    <a:lumMod val="50000"/>
                    <a:alpha val="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AA373AA3-2FB1-2B0A-C138-7166DC77B9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96200" y="3150401"/>
            <a:ext cx="3200400" cy="1252138"/>
          </a:xfrm>
          <a:prstGeom prst="rect">
            <a:avLst/>
          </a:prstGeom>
          <a:ln w="12700">
            <a:gradFill>
              <a:gsLst>
                <a:gs pos="1000">
                  <a:schemeClr val="bg2">
                    <a:lumMod val="50000"/>
                    <a:alpha val="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0FC6B44-CE9A-A82D-EDE4-6A05F4082C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5800" y="3135453"/>
            <a:ext cx="3200400" cy="1252138"/>
          </a:xfrm>
          <a:prstGeom prst="rect">
            <a:avLst/>
          </a:prstGeom>
          <a:ln w="12700">
            <a:noFill/>
          </a:ln>
        </p:spPr>
        <p:txBody>
          <a:bodyPr wrap="square"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FA86F3C-917B-D759-633D-260D0F95D4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9E9539-2C77-51FD-63FB-D1C2EB500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DA69DA-3BE0-669C-5432-8E5A54F07C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218196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Dark 4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C88BD2-8313-2084-6DD8-5DB3752999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F69D17-C393-4F5F-D8F4-A0EA486E91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160" y="3150016"/>
            <a:ext cx="2788920" cy="1252138"/>
          </a:xfrm>
          <a:prstGeom prst="rect">
            <a:avLst/>
          </a:prstGeom>
          <a:ln w="12700">
            <a:gradFill>
              <a:gsLst>
                <a:gs pos="99000">
                  <a:schemeClr val="bg2">
                    <a:lumMod val="50000"/>
                    <a:alpha val="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AA373AA3-2FB1-2B0A-C138-7166DC77B9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50016"/>
            <a:ext cx="2788920" cy="1252138"/>
          </a:xfrm>
          <a:prstGeom prst="rect">
            <a:avLst/>
          </a:prstGeom>
          <a:ln w="12700">
            <a:gradFill>
              <a:gsLst>
                <a:gs pos="1000">
                  <a:schemeClr val="bg2">
                    <a:lumMod val="50000"/>
                    <a:alpha val="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0FC6B44-CE9A-A82D-EDE4-6A05F4082C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080" y="3150016"/>
            <a:ext cx="2788920" cy="1252138"/>
          </a:xfrm>
          <a:prstGeom prst="rect">
            <a:avLst/>
          </a:prstGeom>
          <a:ln w="12700">
            <a:noFill/>
          </a:ln>
        </p:spPr>
        <p:txBody>
          <a:bodyPr wrap="square"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17EBA43E-2988-C282-271B-B8693EC5C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4920" y="3150016"/>
            <a:ext cx="2788920" cy="1252138"/>
          </a:xfrm>
          <a:prstGeom prst="rect">
            <a:avLst/>
          </a:prstGeom>
          <a:ln w="12700">
            <a:gradFill>
              <a:gsLst>
                <a:gs pos="1000">
                  <a:schemeClr val="bg2">
                    <a:lumMod val="50000"/>
                    <a:alpha val="0"/>
                  </a:schemeClr>
                </a:gs>
                <a:gs pos="0">
                  <a:schemeClr val="bg2">
                    <a:lumMod val="50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101600">
                    <a:schemeClr val="accent1">
                      <a:satMod val="175000"/>
                      <a:alpha val="15104"/>
                    </a:schemeClr>
                  </a:glow>
                </a:effectLst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E7C0C99-BA1A-0771-7554-C8B0045379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9E8B3B-52C7-F78F-2EB5-761AF7E05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561B447-C49F-9A82-D65B-B419DB794B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418322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Dark Images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606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ADC46A-87DA-DB96-1DF3-9008107674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7605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E246048E-F407-A85B-7CAB-62C20EC4B0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96307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EDA5366-AE5F-211B-4B68-8C20EFBC5C8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65008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D1923AB-7433-83EB-5591-16B74A49A7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6308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8022083-BA3B-125A-4155-2145D77DA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08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820260-0EEA-5EDA-1713-30F9429F3D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BB7E221-D9D7-3CD3-6FCE-1AEB602368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45CCDA-26F2-DB3A-5996-A645722CC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284F0FF-3B18-99C3-F41F-9CAEB9AFDB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212078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Tall">
    <p:bg>
      <p:bgPr>
        <a:gradFill>
          <a:gsLst>
            <a:gs pos="0">
              <a:schemeClr val="tx1">
                <a:lumMod val="90000"/>
                <a:lumOff val="10000"/>
              </a:schemeClr>
            </a:gs>
            <a:gs pos="77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0613EF-CA17-72D6-A2E5-A1FAE505B95F}"/>
              </a:ext>
            </a:extLst>
          </p:cNvPr>
          <p:cNvSpPr/>
          <p:nvPr userDrawn="1"/>
        </p:nvSpPr>
        <p:spPr>
          <a:xfrm>
            <a:off x="0" y="0"/>
            <a:ext cx="4272788" cy="685799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203200" dist="508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FECC4D4-9F36-C7FA-089C-8A789865A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336020"/>
            <a:ext cx="4272788" cy="204480"/>
          </a:xfrm>
          <a:prstGeom prst="rect">
            <a:avLst/>
          </a:prstGeom>
        </p:spPr>
        <p:txBody>
          <a:bodyPr wrap="square" lIns="548640" tIns="0" rIns="457200" bIns="91440" anchor="b" anchorCtr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800" b="0" i="0">
                <a:solidFill>
                  <a:schemeClr val="bg1">
                    <a:lumMod val="50000"/>
                  </a:schemeClr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0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B52B5AE-0406-5316-0DF9-FEB9C6CFD4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4272788" cy="2071336"/>
          </a:xfrm>
          <a:prstGeom prst="rect">
            <a:avLst/>
          </a:prstGeom>
        </p:spPr>
        <p:txBody>
          <a:bodyPr wrap="square" lIns="548640" tIns="1554480" rIns="45720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96B071-EC3C-B71F-0C9E-224DEC40D7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272788" cy="1540871"/>
          </a:xfrm>
          <a:prstGeom prst="rect">
            <a:avLst/>
          </a:prstGeom>
        </p:spPr>
        <p:txBody>
          <a:bodyPr wrap="square" lIns="548640" tIns="914400" rIns="45720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3F6C8DE-1228-F1A8-BB20-74FA4447A5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4272788" cy="778290"/>
          </a:xfrm>
          <a:prstGeom prst="rect">
            <a:avLst/>
          </a:prstGeom>
        </p:spPr>
        <p:txBody>
          <a:bodyPr wrap="square" lIns="548640" tIns="548640" rIns="45720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C6E864-32FB-1E9F-E752-1479E2FF25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4272787" cy="5229765"/>
          </a:xfrm>
          <a:prstGeom prst="rect">
            <a:avLst/>
          </a:prstGeom>
        </p:spPr>
        <p:txBody>
          <a:bodyPr wrap="square" lIns="548640" tIns="2194560" rIns="91440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80EBA-A13E-6431-3828-77EAC03339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3583"/>
          <a:stretch/>
        </p:blipFill>
        <p:spPr>
          <a:xfrm>
            <a:off x="-5043949" y="6540500"/>
            <a:ext cx="9316736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7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Long">
    <p:bg>
      <p:bgPr>
        <a:gradFill>
          <a:gsLst>
            <a:gs pos="0">
              <a:schemeClr val="tx1">
                <a:lumMod val="90000"/>
                <a:lumOff val="10000"/>
              </a:schemeClr>
            </a:gs>
            <a:gs pos="59000">
              <a:schemeClr val="tx1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0613EF-CA17-72D6-A2E5-A1FAE505B95F}"/>
              </a:ext>
            </a:extLst>
          </p:cNvPr>
          <p:cNvSpPr/>
          <p:nvPr userDrawn="1"/>
        </p:nvSpPr>
        <p:spPr>
          <a:xfrm>
            <a:off x="0" y="1"/>
            <a:ext cx="12192000" cy="192023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2032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FECC4D4-9F36-C7FA-089C-8A789865A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653520"/>
            <a:ext cx="12192000" cy="204480"/>
          </a:xfrm>
          <a:prstGeom prst="rect">
            <a:avLst/>
          </a:prstGeom>
        </p:spPr>
        <p:txBody>
          <a:bodyPr wrap="square" lIns="548640" tIns="0" rIns="457200" bIns="91440" anchor="b" anchorCtr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800" b="0" i="0">
                <a:solidFill>
                  <a:schemeClr val="bg1">
                    <a:lumMod val="50000"/>
                  </a:schemeClr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0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DDA6CBB-3BC9-5DD0-F64A-3001B1883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077" y="1225089"/>
            <a:ext cx="1053829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5464E7-F312-9FC5-0423-A7FAEB3D6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077" y="623774"/>
            <a:ext cx="1053829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B2381F9-783E-C800-CC2F-C8828EAEBB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077" y="380027"/>
            <a:ext cx="1053829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2CFF3-8662-D5B7-71D0-A623C7082F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-4937760"/>
            <a:ext cx="31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11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Dark Alt">
    <p:bg>
      <p:bgPr>
        <a:gradFill flip="none" rotWithShape="1">
          <a:gsLst>
            <a:gs pos="75000">
              <a:schemeClr val="tx2"/>
            </a:gs>
            <a:gs pos="7000">
              <a:srgbClr val="000000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D4F1F38-B596-9EF6-E093-6041D394E5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814476"/>
            <a:ext cx="10538298" cy="3013774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8D2328C-CF2E-9330-2347-AED6DA7161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2265240"/>
            <a:ext cx="1053829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B8ACD9-F1CC-5F6B-0303-037CB1E038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663925"/>
            <a:ext cx="1053829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16C35F2-28CD-D233-BA5C-B01BE1D8BC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420178"/>
            <a:ext cx="1053829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4109745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">
    <p:bg>
      <p:bgPr>
        <a:gradFill>
          <a:gsLst>
            <a:gs pos="100000">
              <a:schemeClr val="accent1"/>
            </a:gs>
            <a:gs pos="39000">
              <a:schemeClr val="tx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D3BC8C-EA0D-BC8D-396F-798AA0159D9C}"/>
              </a:ext>
            </a:extLst>
          </p:cNvPr>
          <p:cNvSpPr/>
          <p:nvPr userDrawn="1"/>
        </p:nvSpPr>
        <p:spPr>
          <a:xfrm>
            <a:off x="683664" y="692209"/>
            <a:ext cx="4460904" cy="5426580"/>
          </a:xfrm>
          <a:prstGeom prst="roundRect">
            <a:avLst>
              <a:gd name="adj" fmla="val 30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80CE5F-C3A1-C8E9-7CDA-5032165BC0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8BC6E06-4ABB-828D-01A1-DA0FD8C15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854" y="2925607"/>
            <a:ext cx="3418318" cy="3193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4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6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8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1935E48-C4C2-C9AA-1BAC-5F3A6463B6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5854" y="1792660"/>
            <a:ext cx="3418318" cy="75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CB166E-47BF-BE89-DCA5-835AB9A7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854" y="1175119"/>
            <a:ext cx="341831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3CC8E3-3A8D-E5FF-8468-88314AABE6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854" y="957129"/>
            <a:ext cx="341831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5053C0-C44F-2A80-B39D-79CF81CCA402}"/>
              </a:ext>
            </a:extLst>
          </p:cNvPr>
          <p:cNvSpPr/>
          <p:nvPr userDrawn="1"/>
        </p:nvSpPr>
        <p:spPr>
          <a:xfrm>
            <a:off x="4563455" y="384560"/>
            <a:ext cx="8033046" cy="5939328"/>
          </a:xfrm>
          <a:prstGeom prst="roundRect">
            <a:avLst>
              <a:gd name="adj" fmla="val 3065"/>
            </a:avLst>
          </a:prstGeom>
          <a:solidFill>
            <a:schemeClr val="bg1"/>
          </a:solidFill>
          <a:ln>
            <a:noFill/>
          </a:ln>
          <a:effectLst>
            <a:outerShdw blurRad="304800" dist="76200" dir="81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1184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s">
    <p:bg>
      <p:bgPr>
        <a:gradFill flip="none" rotWithShape="1">
          <a:gsLst>
            <a:gs pos="88000">
              <a:schemeClr val="tx2"/>
            </a:gs>
            <a:gs pos="36000">
              <a:srgbClr val="000000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DA3ED9-44F2-C18E-7BBA-C1F26DD9A033}"/>
              </a:ext>
            </a:extLst>
          </p:cNvPr>
          <p:cNvSpPr/>
          <p:nvPr userDrawn="1"/>
        </p:nvSpPr>
        <p:spPr>
          <a:xfrm>
            <a:off x="914400" y="2231123"/>
            <a:ext cx="10492990" cy="3978378"/>
          </a:xfrm>
          <a:prstGeom prst="roundRect">
            <a:avLst>
              <a:gd name="adj" fmla="val 2821"/>
            </a:avLst>
          </a:prstGeom>
          <a:solidFill>
            <a:schemeClr val="bg1"/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2FC87-B548-6976-E97A-02A2A5B3C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587F410-A9BC-8196-B7E8-166E6BB083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393702"/>
            <a:ext cx="1053829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D98392-C17B-52CE-A62E-89D7B81EB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92387"/>
            <a:ext cx="1053829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E9859B6-C6D6-24C8-1233-D18DAE12AB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548640"/>
            <a:ext cx="1053829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951445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Co-Branded">
    <p:bg>
      <p:bgPr>
        <a:gradFill flip="none" rotWithShape="1">
          <a:gsLst>
            <a:gs pos="0">
              <a:schemeClr val="tx1">
                <a:lumMod val="90000"/>
                <a:lumOff val="10000"/>
              </a:schemeClr>
            </a:gs>
            <a:gs pos="81000">
              <a:schemeClr val="tx1"/>
            </a:gs>
          </a:gsLst>
          <a:lin ang="3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DA3ED9-44F2-C18E-7BBA-C1F26DD9A033}"/>
              </a:ext>
            </a:extLst>
          </p:cNvPr>
          <p:cNvSpPr/>
          <p:nvPr userDrawn="1"/>
        </p:nvSpPr>
        <p:spPr>
          <a:xfrm>
            <a:off x="550761" y="2788560"/>
            <a:ext cx="10858750" cy="3582866"/>
          </a:xfrm>
          <a:prstGeom prst="roundRect">
            <a:avLst>
              <a:gd name="adj" fmla="val 2821"/>
            </a:avLst>
          </a:prstGeom>
          <a:solidFill>
            <a:schemeClr val="bg1"/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2FC87-B548-6976-E97A-02A2A5B3C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3D98392-C17B-52CE-A62E-89D7B81EB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1727724"/>
            <a:ext cx="3709035" cy="3925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2800" b="0" kern="1200" dirty="0">
                <a:solidFill>
                  <a:schemeClr val="bg1"/>
                </a:solidFill>
                <a:latin typeface="Simplon Norm" panose="020B0500030000000000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7DE1784-C7C6-A924-2CF1-8E8A13B899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712854"/>
            <a:ext cx="1225297" cy="21622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E6E049-EA94-CA20-4CA2-99744926F75E}"/>
              </a:ext>
            </a:extLst>
          </p:cNvPr>
          <p:cNvCxnSpPr/>
          <p:nvPr userDrawn="1"/>
        </p:nvCxnSpPr>
        <p:spPr>
          <a:xfrm>
            <a:off x="1943448" y="712854"/>
            <a:ext cx="0" cy="21622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12CDAD8-254F-4F00-102F-E4EAEDB90D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727" y="820968"/>
            <a:ext cx="3265636" cy="1299138"/>
          </a:xfrm>
          <a:prstGeom prst="rect">
            <a:avLst/>
          </a:prstGeom>
        </p:spPr>
        <p:txBody>
          <a:bodyPr wrap="square" lIns="0" tIns="0" rIns="0" anchor="b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82563" indent="-17145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1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1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14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User Challenges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  <a:p>
            <a:pPr lvl="1"/>
            <a:r>
              <a:rPr lang="en-US"/>
              <a:t>Aenean </a:t>
            </a:r>
            <a:r>
              <a:rPr lang="en-US" err="1"/>
              <a:t>condimentum</a:t>
            </a:r>
            <a:r>
              <a:rPr lang="en-US"/>
              <a:t> at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 err="1"/>
              <a:t>Aliquam</a:t>
            </a:r>
            <a:r>
              <a:rPr lang="en-US"/>
              <a:t> ac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Nam sit </a:t>
            </a:r>
            <a:r>
              <a:rPr lang="en-US" err="1"/>
              <a:t>amet</a:t>
            </a:r>
            <a:r>
              <a:rPr lang="en-US"/>
              <a:t> nisi </a:t>
            </a:r>
            <a:r>
              <a:rPr lang="en-US" err="1"/>
              <a:t>eu</a:t>
            </a:r>
            <a:endParaRPr lang="en-US"/>
          </a:p>
          <a:p>
            <a:pPr lvl="1"/>
            <a:r>
              <a:rPr lang="en-US"/>
              <a:t>eros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. Morbi dictum </a:t>
            </a:r>
            <a:r>
              <a:rPr lang="en-US" err="1"/>
              <a:t>sollicitudin</a:t>
            </a:r>
            <a:endParaRPr lang="en-US"/>
          </a:p>
          <a:p>
            <a:pPr lvl="1"/>
            <a:r>
              <a:rPr lang="en-US" err="1"/>
              <a:t>varius</a:t>
            </a:r>
            <a:r>
              <a:rPr lang="en-US"/>
              <a:t>. Aenean id </a:t>
            </a:r>
            <a:r>
              <a:rPr lang="en-US" err="1"/>
              <a:t>orci</a:t>
            </a:r>
            <a:r>
              <a:rPr lang="en-US"/>
              <a:t> non diam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.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75F3E95-C0B9-4C07-DD4A-E3A9DF15D1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40" y="1474378"/>
            <a:ext cx="3709021" cy="19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400" b="0" i="0" spc="300">
                <a:solidFill>
                  <a:schemeClr val="bg1"/>
                </a:solidFill>
                <a:latin typeface="Simplon Norm Light" panose="020B0300030000000000" pitchFamily="34" charset="77"/>
              </a:defRPr>
            </a:lvl1pPr>
          </a:lstStyle>
          <a:p>
            <a:pPr marL="0" lvl="0" defTabSz="457200">
              <a:spcBef>
                <a:spcPct val="0"/>
              </a:spcBef>
              <a:spcAft>
                <a:spcPts val="600"/>
              </a:spcAft>
              <a:buNone/>
            </a:pPr>
            <a:r>
              <a:rPr lang="en-US"/>
              <a:t>EYEBROW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D213D2B-4A6B-8D90-7982-6841F3386D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3875" y="820968"/>
            <a:ext cx="3265636" cy="1299138"/>
          </a:xfrm>
          <a:prstGeom prst="rect">
            <a:avLst/>
          </a:prstGeom>
        </p:spPr>
        <p:txBody>
          <a:bodyPr wrap="square" lIns="0" tIns="0" rIns="0" anchor="b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82563" indent="-17145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1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1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14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Solution Benefits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  <a:p>
            <a:pPr lvl="1"/>
            <a:r>
              <a:rPr lang="en-US"/>
              <a:t>Aenean </a:t>
            </a:r>
            <a:r>
              <a:rPr lang="en-US" err="1"/>
              <a:t>condimentum</a:t>
            </a:r>
            <a:r>
              <a:rPr lang="en-US"/>
              <a:t> at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 err="1"/>
              <a:t>Aliquam</a:t>
            </a:r>
            <a:r>
              <a:rPr lang="en-US"/>
              <a:t> ac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Nam sit </a:t>
            </a:r>
            <a:r>
              <a:rPr lang="en-US" err="1"/>
              <a:t>amet</a:t>
            </a:r>
            <a:r>
              <a:rPr lang="en-US"/>
              <a:t> nisi </a:t>
            </a:r>
            <a:r>
              <a:rPr lang="en-US" err="1"/>
              <a:t>eu</a:t>
            </a:r>
            <a:endParaRPr lang="en-US"/>
          </a:p>
          <a:p>
            <a:pPr lvl="1"/>
            <a:r>
              <a:rPr lang="en-US"/>
              <a:t>eros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. Morbi dictum </a:t>
            </a:r>
            <a:r>
              <a:rPr lang="en-US" err="1"/>
              <a:t>sollicitudin</a:t>
            </a:r>
            <a:endParaRPr lang="en-US"/>
          </a:p>
          <a:p>
            <a:pPr lvl="1"/>
            <a:r>
              <a:rPr lang="en-US" err="1"/>
              <a:t>varius</a:t>
            </a:r>
            <a:r>
              <a:rPr lang="en-US"/>
              <a:t>. Aenean id </a:t>
            </a:r>
            <a:r>
              <a:rPr lang="en-US" err="1"/>
              <a:t>orci</a:t>
            </a:r>
            <a:r>
              <a:rPr lang="en-US"/>
              <a:t> non diam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86496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">
    <p:bg>
      <p:bgPr>
        <a:gradFill flip="none" rotWithShape="1">
          <a:gsLst>
            <a:gs pos="0">
              <a:schemeClr val="tx1">
                <a:lumMod val="90000"/>
                <a:lumOff val="10000"/>
              </a:schemeClr>
            </a:gs>
            <a:gs pos="59000">
              <a:schemeClr val="tx1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DA3ED9-44F2-C18E-7BBA-C1F26DD9A033}"/>
              </a:ext>
            </a:extLst>
          </p:cNvPr>
          <p:cNvSpPr/>
          <p:nvPr userDrawn="1"/>
        </p:nvSpPr>
        <p:spPr>
          <a:xfrm>
            <a:off x="550761" y="3009530"/>
            <a:ext cx="10858750" cy="3361896"/>
          </a:xfrm>
          <a:prstGeom prst="roundRect">
            <a:avLst>
              <a:gd name="adj" fmla="val 2821"/>
            </a:avLst>
          </a:prstGeom>
          <a:solidFill>
            <a:schemeClr val="bg1"/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2FC87-B548-6976-E97A-02A2A5B3C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3D98392-C17B-52CE-A62E-89D7B81EB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701335"/>
            <a:ext cx="3914541" cy="1936375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algn="l" defTabSz="4572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None/>
              <a:defRPr lang="en-US" sz="2800" b="0" kern="1200" dirty="0">
                <a:solidFill>
                  <a:schemeClr val="bg1"/>
                </a:solidFill>
                <a:latin typeface="Simplon Norm" panose="020B0500030000000000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EA29331-2E99-C5D5-C4E6-28A625562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5913" y="982480"/>
            <a:ext cx="3050287" cy="1655231"/>
          </a:xfrm>
          <a:prstGeom prst="rect">
            <a:avLst/>
          </a:prstGeom>
        </p:spPr>
        <p:txBody>
          <a:bodyPr wrap="square" lIns="0" tIns="228600" rIns="0" bIns="0" anchor="t" anchorCtr="0">
            <a:noAutofit/>
          </a:bodyPr>
          <a:lstStyle>
            <a:lvl1pPr marL="11113" indent="0">
              <a:spcBef>
                <a:spcPts val="1600"/>
              </a:spcBef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 marL="11113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1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1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14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Aenean </a:t>
            </a:r>
            <a:r>
              <a:rPr lang="en-US" err="1"/>
              <a:t>condimentum</a:t>
            </a:r>
            <a:r>
              <a:rPr lang="en-US"/>
              <a:t> at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1F120-E5E6-C2FA-7DD2-840DD781ECDF}"/>
              </a:ext>
            </a:extLst>
          </p:cNvPr>
          <p:cNvSpPr txBox="1"/>
          <p:nvPr userDrawn="1"/>
        </p:nvSpPr>
        <p:spPr>
          <a:xfrm>
            <a:off x="4985913" y="674702"/>
            <a:ext cx="30502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implon Norm" panose="020B0500030000000000" pitchFamily="34" charset="77"/>
              </a:rPr>
              <a:t>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BB66C-5706-DCFD-A38C-EEAE5FD36844}"/>
              </a:ext>
            </a:extLst>
          </p:cNvPr>
          <p:cNvSpPr txBox="1"/>
          <p:nvPr userDrawn="1"/>
        </p:nvSpPr>
        <p:spPr>
          <a:xfrm>
            <a:off x="8359224" y="674702"/>
            <a:ext cx="30502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implon Norm" panose="020B0500030000000000" pitchFamily="34" charset="77"/>
              </a:rPr>
              <a:t>Solution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D5C2E48-4CBB-6541-7464-99CC9D1005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9224" y="982480"/>
            <a:ext cx="3050287" cy="1655231"/>
          </a:xfrm>
          <a:prstGeom prst="rect">
            <a:avLst/>
          </a:prstGeom>
        </p:spPr>
        <p:txBody>
          <a:bodyPr wrap="square" lIns="0" tIns="228600" rIns="0" bIns="0" anchor="t" anchorCtr="0">
            <a:noAutofit/>
          </a:bodyPr>
          <a:lstStyle>
            <a:lvl1pPr marL="11113" indent="0">
              <a:spcBef>
                <a:spcPts val="1600"/>
              </a:spcBef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 marL="11113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1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05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0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1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14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Aenean </a:t>
            </a:r>
            <a:r>
              <a:rPr lang="en-US" err="1"/>
              <a:t>condimentum</a:t>
            </a:r>
            <a:r>
              <a:rPr lang="en-US"/>
              <a:t> at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C6C75-7ADE-0F5F-AF1B-AD6A9E4A7020}"/>
              </a:ext>
            </a:extLst>
          </p:cNvPr>
          <p:cNvSpPr txBox="1"/>
          <p:nvPr userDrawn="1"/>
        </p:nvSpPr>
        <p:spPr>
          <a:xfrm>
            <a:off x="548640" y="384048"/>
            <a:ext cx="2219417" cy="204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-22860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implon Norm Light" panose="020B0300030000000000" pitchFamily="34" charset="77"/>
                <a:ea typeface="+mn-ea"/>
                <a:cs typeface="+mn-cs"/>
              </a:rPr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2096108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Light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1E6B4C-4E0D-F0EC-3005-399D937D18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137031"/>
            <a:ext cx="10525328" cy="31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4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6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8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0BB5EF9-D727-A9AE-9D48-AED83DB2D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392448"/>
            <a:ext cx="1052532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6328EB-4AA4-E369-9E3E-CE4BCB537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14936"/>
            <a:ext cx="1052532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E23FD-E200-FBF0-20BA-0C0725906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548640"/>
            <a:ext cx="1052532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3257749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ight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018742"/>
            <a:ext cx="12191999" cy="2967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1113" indent="0" algn="ctr">
              <a:spcBef>
                <a:spcPts val="1600"/>
              </a:spcBef>
              <a:buNone/>
              <a:tabLst/>
              <a:defRPr sz="20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 algn="ctr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ctr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ctr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 algn="ctr"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0BB5EF9-D727-A9AE-9D48-AED83DB2D8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6328EB-4AA4-E369-9E3E-CE4BCB537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E23FD-E200-FBF0-20BA-0C0725906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40346-FBEA-1C91-D8E3-DA407ABC9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55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ight Boxes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A06FBA-9BC0-3750-B7EF-42C78264E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181" y="2489208"/>
            <a:ext cx="2468880" cy="2816276"/>
          </a:xfrm>
          <a:prstGeom prst="roundRect">
            <a:avLst>
              <a:gd name="adj" fmla="val 3685"/>
            </a:avLst>
          </a:prstGeom>
          <a:gradFill>
            <a:gsLst>
              <a:gs pos="1000">
                <a:schemeClr val="bg1"/>
              </a:gs>
              <a:gs pos="56000">
                <a:schemeClr val="bg1">
                  <a:lumMod val="95000"/>
                </a:schemeClr>
              </a:gs>
            </a:gsLst>
            <a:lin ang="4200000" scaled="0"/>
          </a:gradFill>
          <a:ln w="19050">
            <a:solidFill>
              <a:schemeClr val="bg1">
                <a:lumMod val="85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40346-FBEA-1C91-D8E3-DA407ABC9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B4A462E-A110-2F60-43E8-FF0CC74D2C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6434" y="2489208"/>
            <a:ext cx="2468880" cy="2816276"/>
          </a:xfrm>
          <a:prstGeom prst="roundRect">
            <a:avLst>
              <a:gd name="adj" fmla="val 3685"/>
            </a:avLst>
          </a:prstGeom>
          <a:gradFill>
            <a:gsLst>
              <a:gs pos="1000">
                <a:schemeClr val="bg1"/>
              </a:gs>
              <a:gs pos="56000">
                <a:schemeClr val="bg1">
                  <a:lumMod val="95000"/>
                </a:schemeClr>
              </a:gs>
            </a:gsLst>
            <a:lin ang="4200000" scaled="0"/>
          </a:gradFill>
          <a:ln w="19050">
            <a:solidFill>
              <a:schemeClr val="bg1">
                <a:lumMod val="85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9F7DA1-842A-D422-957D-90FFE5C094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6687" y="2489208"/>
            <a:ext cx="2468880" cy="2816276"/>
          </a:xfrm>
          <a:prstGeom prst="roundRect">
            <a:avLst>
              <a:gd name="adj" fmla="val 3685"/>
            </a:avLst>
          </a:prstGeom>
          <a:gradFill>
            <a:gsLst>
              <a:gs pos="1000">
                <a:schemeClr val="bg1"/>
              </a:gs>
              <a:gs pos="56000">
                <a:schemeClr val="bg1">
                  <a:lumMod val="95000"/>
                </a:schemeClr>
              </a:gs>
            </a:gsLst>
            <a:lin ang="4200000" scaled="0"/>
          </a:gradFill>
          <a:ln w="19050">
            <a:solidFill>
              <a:schemeClr val="bg1">
                <a:lumMod val="85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2A3C28A-78DC-37A0-F114-2201F5F004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6939" y="2489208"/>
            <a:ext cx="2468880" cy="2816276"/>
          </a:xfrm>
          <a:prstGeom prst="roundRect">
            <a:avLst>
              <a:gd name="adj" fmla="val 3685"/>
            </a:avLst>
          </a:prstGeom>
          <a:gradFill>
            <a:gsLst>
              <a:gs pos="1000">
                <a:schemeClr val="bg1"/>
              </a:gs>
              <a:gs pos="56000">
                <a:schemeClr val="bg1">
                  <a:lumMod val="95000"/>
                </a:schemeClr>
              </a:gs>
            </a:gsLst>
            <a:lin ang="4200000" scaled="0"/>
          </a:gradFill>
          <a:ln w="19050">
            <a:solidFill>
              <a:schemeClr val="bg1">
                <a:lumMod val="85000"/>
              </a:schemeClr>
            </a:solidFill>
          </a:ln>
        </p:spPr>
        <p:txBody>
          <a:bodyPr wrap="square" lIns="182880" tIns="365760" rIns="182880" bIns="365760">
            <a:spAutoFit/>
          </a:bodyPr>
          <a:lstStyle>
            <a:lvl1pPr marL="11113" indent="0" algn="l">
              <a:spcBef>
                <a:spcPts val="1600"/>
              </a:spcBef>
              <a:buNone/>
              <a:tabLst/>
              <a:defRPr sz="20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 algn="l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 algn="l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 algn="l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 algn="l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 algn="l"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 algn="ctr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 algn="ctr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8B7C587-D1A5-6728-1136-CA2F04DEE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768C93-4396-69EF-F6C6-B3040218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0473A3F-C824-416A-6263-45ED7580F7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2692790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Light 3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4B1C37-AD2D-55C0-8944-A51CD47B15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CBF62BC3-203F-E8E8-D466-58C6BDDE0B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3135453"/>
            <a:ext cx="3200400" cy="1252138"/>
          </a:xfrm>
          <a:prstGeom prst="rect">
            <a:avLst/>
          </a:prstGeom>
          <a:ln w="12700">
            <a:gradFill>
              <a:gsLst>
                <a:gs pos="9900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F94AC82-79F1-588F-B06C-F10870AAB5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96200" y="3150401"/>
            <a:ext cx="3200400" cy="1252138"/>
          </a:xfrm>
          <a:prstGeom prst="rect">
            <a:avLst/>
          </a:prstGeom>
          <a:ln w="12700">
            <a:gradFill>
              <a:gsLst>
                <a:gs pos="1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4062B98-F7AA-719C-5922-CA4D199BB7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5800" y="3156080"/>
            <a:ext cx="3200400" cy="1252138"/>
          </a:xfrm>
          <a:prstGeom prst="rect">
            <a:avLst/>
          </a:prstGeom>
          <a:ln w="12700">
            <a:noFill/>
          </a:ln>
        </p:spPr>
        <p:txBody>
          <a:bodyPr wrap="square"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3BD3D2E-1BBD-6637-E439-1B83A01F7A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B7637B1-D6CD-5666-A1C9-582958500D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8E56DED-B69E-B294-54FA-B57368E424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6144047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Light 4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C96E2-BED4-AF2D-76C3-BAF54F8F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2DFF48A-4116-05E3-12E8-A73460757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160" y="3150016"/>
            <a:ext cx="2788920" cy="1252138"/>
          </a:xfrm>
          <a:prstGeom prst="rect">
            <a:avLst/>
          </a:prstGeom>
          <a:ln w="12700">
            <a:gradFill>
              <a:gsLst>
                <a:gs pos="9900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1137D574-90FF-2264-D56B-FCA03908D7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50016"/>
            <a:ext cx="2788920" cy="1252138"/>
          </a:xfrm>
          <a:prstGeom prst="rect">
            <a:avLst/>
          </a:prstGeom>
          <a:ln w="12700">
            <a:gradFill>
              <a:gsLst>
                <a:gs pos="1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B802FDB7-F8C0-9E86-D686-E0D8EDC908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080" y="3150016"/>
            <a:ext cx="2788920" cy="1252138"/>
          </a:xfrm>
          <a:prstGeom prst="rect">
            <a:avLst/>
          </a:prstGeom>
          <a:ln w="12700">
            <a:noFill/>
          </a:ln>
        </p:spPr>
        <p:txBody>
          <a:bodyPr wrap="square"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20AEC1E-7908-5D11-A257-C8ADF5B3C6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4920" y="3150016"/>
            <a:ext cx="2788920" cy="1252138"/>
          </a:xfrm>
          <a:prstGeom prst="rect">
            <a:avLst/>
          </a:prstGeom>
          <a:ln w="12700">
            <a:gradFill>
              <a:gsLst>
                <a:gs pos="1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</a:ln>
        </p:spPr>
        <p:txBody>
          <a:bodyPr lIns="274320" tIns="182880" rIns="274320" bIns="182880" numCol="1" spcCol="640080" anchor="ctr" anchorCtr="0">
            <a:spAutoFit/>
          </a:bodyPr>
          <a:lstStyle>
            <a:lvl1pPr marL="0" indent="0" algn="ctr" defTabSz="914400" rtl="0" eaLnBrk="1" latinLnBrk="0" hangingPunct="1">
              <a:spcAft>
                <a:spcPts val="2400"/>
              </a:spcAft>
              <a:buNone/>
              <a:tabLst/>
              <a:defRPr lang="en-US" sz="2000" b="0" i="0" kern="1200" dirty="0" smtClean="0">
                <a:solidFill>
                  <a:schemeClr val="tx1"/>
                </a:solidFill>
                <a:effectLst/>
                <a:latin typeface="Simplon Norm" panose="020B0500030000000000" pitchFamily="34" charset="77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95000"/>
              </a:lnSpc>
              <a:spcAft>
                <a:spcPts val="600"/>
              </a:spcAft>
              <a:buClr>
                <a:schemeClr val="accent1"/>
              </a:buClr>
              <a:buSzPct val="85000"/>
              <a:buNone/>
              <a:tabLst/>
              <a:defRPr lang="en-US" sz="1600" b="0" i="0" kern="1200" dirty="0" smtClean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Simplon Norm Light" panose="020B0300030000000000" pitchFamily="34" charset="77"/>
                <a:ea typeface="+mn-ea"/>
                <a:cs typeface="+mn-cs"/>
              </a:defRPr>
            </a:lvl2pPr>
            <a:lvl3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4pPr>
            <a:lvl5pPr marL="11113" indent="0" algn="ctr">
              <a:buNone/>
              <a:tabLst/>
              <a:defRPr>
                <a:solidFill>
                  <a:schemeClr val="bg1"/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C8E2599-9F7A-3B6D-8EA4-372687A3F4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FF686A-93FE-9ACA-9C54-DEAB45F6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4D5E6CB-C786-8E0D-2AC5-A67C730379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4115277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Light Images">
    <p:bg>
      <p:bgPr>
        <a:gradFill>
          <a:gsLst>
            <a:gs pos="100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C96E2-BED4-AF2D-76C3-BAF54F8F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DD010BF-97B0-F8F0-2DD6-0F87B5BA5C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606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16ABFF23-E721-0C36-1A8D-22BEC376A1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7605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6F18B4C7-25FA-19E3-8771-59CF7D61FD3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96307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E49D4F8-17F8-BDBA-0E06-1C6B5E0CD7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65008" y="1955039"/>
            <a:ext cx="3209485" cy="1918461"/>
          </a:xfrm>
          <a:prstGeom prst="roundRect">
            <a:avLst>
              <a:gd name="adj" fmla="val 2942"/>
            </a:avLst>
          </a:prstGeom>
        </p:spPr>
        <p:txBody>
          <a:bodyPr/>
          <a:lstStyle>
            <a:lvl1pPr>
              <a:defRPr b="0" i="0">
                <a:latin typeface="Simplon Norm" panose="020B050003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4AB613B-A29C-F7C3-E864-7A170FEDA1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6308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EF6F5E3-A2F5-ED40-A0C4-31188CD140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08" y="4006502"/>
            <a:ext cx="3209484" cy="807722"/>
          </a:xfrm>
          <a:prstGeom prst="rect">
            <a:avLst/>
          </a:prstGeom>
        </p:spPr>
        <p:txBody>
          <a:bodyPr wrap="square" lIns="0" tIns="182880" rIns="0" bIns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2"/>
            <a:r>
              <a:rPr lang="en-US"/>
              <a:t>Headline Level 2</a:t>
            </a:r>
          </a:p>
          <a:p>
            <a:pPr lvl="4"/>
            <a:r>
              <a:rPr lang="en-US"/>
              <a:t>List level 1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F4890FF-9183-7D7C-071F-BE4C5F0071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040184-85D9-4C8C-3D79-F3896E4D5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5ECA9DA-F3D9-744B-BCD2-2C2BF76DFF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525900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all">
    <p:bg>
      <p:bgPr>
        <a:gradFill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0613EF-CA17-72D6-A2E5-A1FAE505B95F}"/>
              </a:ext>
            </a:extLst>
          </p:cNvPr>
          <p:cNvSpPr/>
          <p:nvPr userDrawn="1"/>
        </p:nvSpPr>
        <p:spPr>
          <a:xfrm>
            <a:off x="0" y="0"/>
            <a:ext cx="4272788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03200" dist="508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FECC4D4-9F36-C7FA-089C-8A789865A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336020"/>
            <a:ext cx="4272788" cy="204480"/>
          </a:xfrm>
          <a:prstGeom prst="rect">
            <a:avLst/>
          </a:prstGeom>
        </p:spPr>
        <p:txBody>
          <a:bodyPr wrap="square" lIns="548640" tIns="0" rIns="457200" bIns="91440" anchor="b" anchorCtr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800" b="0" i="0">
                <a:solidFill>
                  <a:schemeClr val="bg1">
                    <a:lumMod val="50000"/>
                  </a:schemeClr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0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F8D38AE-7E6C-753F-9A03-68B1B8409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4272788" cy="5465214"/>
          </a:xfrm>
          <a:prstGeom prst="rect">
            <a:avLst/>
          </a:prstGeom>
        </p:spPr>
        <p:txBody>
          <a:bodyPr wrap="square" lIns="548640" tIns="2194560" rIns="45720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2400" b="0" i="0">
                <a:solidFill>
                  <a:schemeClr val="tx1"/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6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8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/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2"/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Headline Level 1</a:t>
            </a:r>
          </a:p>
          <a:p>
            <a:pPr lvl="1"/>
            <a:r>
              <a:rPr lang="en-US"/>
              <a:t>Body Copy Level 1</a:t>
            </a:r>
          </a:p>
          <a:p>
            <a:pPr lvl="2"/>
            <a:r>
              <a:rPr lang="en-US"/>
              <a:t>Headline Level 2</a:t>
            </a:r>
          </a:p>
          <a:p>
            <a:pPr lvl="3"/>
            <a:r>
              <a:rPr lang="en-US"/>
              <a:t>Body Level 2</a:t>
            </a:r>
          </a:p>
          <a:p>
            <a:pPr lvl="4"/>
            <a:r>
              <a:rPr lang="en-US"/>
              <a:t>List level 1</a:t>
            </a:r>
          </a:p>
          <a:p>
            <a:pPr lvl="5"/>
            <a:r>
              <a:rPr lang="en-US"/>
              <a:t>List Level 2</a:t>
            </a:r>
          </a:p>
          <a:p>
            <a:pPr lvl="6"/>
            <a:r>
              <a:rPr lang="en-US"/>
              <a:t>Call-to-Action</a:t>
            </a:r>
          </a:p>
          <a:p>
            <a:pPr lvl="7"/>
            <a:r>
              <a:rPr lang="en-US"/>
              <a:t>Quote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E612DAA9-9DC0-82DF-BA12-8841260233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4272788" cy="2071336"/>
          </a:xfrm>
          <a:prstGeom prst="rect">
            <a:avLst/>
          </a:prstGeom>
        </p:spPr>
        <p:txBody>
          <a:bodyPr wrap="square" lIns="548640" tIns="1554480" rIns="45720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28A6FA0-A197-5CC1-8D5D-071408EC9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272788" cy="1540871"/>
          </a:xfrm>
          <a:prstGeom prst="rect">
            <a:avLst/>
          </a:prstGeom>
        </p:spPr>
        <p:txBody>
          <a:bodyPr wrap="square" lIns="548640" tIns="914400" rIns="45720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F2D84F4-0794-DFB3-67FC-321C10F31A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4272788" cy="778290"/>
          </a:xfrm>
          <a:prstGeom prst="rect">
            <a:avLst/>
          </a:prstGeom>
        </p:spPr>
        <p:txBody>
          <a:bodyPr wrap="square" lIns="548640" tIns="548640" rIns="45720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1971F-E8E4-6E3B-A14D-35943BF31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3438"/>
          <a:stretch/>
        </p:blipFill>
        <p:spPr>
          <a:xfrm>
            <a:off x="-5061647" y="6540500"/>
            <a:ext cx="9334435" cy="31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956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ong">
    <p:bg>
      <p:bgPr>
        <a:gradFill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0613EF-CA17-72D6-A2E5-A1FAE505B95F}"/>
              </a:ext>
            </a:extLst>
          </p:cNvPr>
          <p:cNvSpPr/>
          <p:nvPr userDrawn="1"/>
        </p:nvSpPr>
        <p:spPr>
          <a:xfrm>
            <a:off x="0" y="1"/>
            <a:ext cx="12192000" cy="19202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03200" dist="508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FECC4D4-9F36-C7FA-089C-8A789865A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653520"/>
            <a:ext cx="12192000" cy="204480"/>
          </a:xfrm>
          <a:prstGeom prst="rect">
            <a:avLst/>
          </a:prstGeom>
        </p:spPr>
        <p:txBody>
          <a:bodyPr wrap="square" lIns="548640" tIns="0" rIns="457200" bIns="91440" anchor="b" anchorCtr="0">
            <a:spAutoFit/>
          </a:bodyPr>
          <a:lstStyle>
            <a:lvl1pPr marL="11113" indent="0">
              <a:spcBef>
                <a:spcPts val="1600"/>
              </a:spcBef>
              <a:buNone/>
              <a:tabLst/>
              <a:defRPr sz="800" b="0" i="0">
                <a:solidFill>
                  <a:schemeClr val="bg1">
                    <a:lumMod val="50000"/>
                  </a:schemeClr>
                </a:solidFill>
                <a:latin typeface="Simplon Norm" panose="020B0500030000000000" pitchFamily="34" charset="77"/>
              </a:defRPr>
            </a:lvl1pPr>
            <a:lvl2pPr marL="11113" indent="0">
              <a:lnSpc>
                <a:spcPct val="133000"/>
              </a:lnSpc>
              <a:spcBef>
                <a:spcPts val="0"/>
              </a:spcBef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indent="0">
              <a:spcBef>
                <a:spcPts val="1600"/>
              </a:spcBef>
              <a:buNone/>
              <a:tabLst/>
              <a:defRPr sz="1000" b="0" i="0">
                <a:solidFill>
                  <a:schemeClr val="tx1"/>
                </a:solidFill>
                <a:latin typeface="Simplon Norm" panose="020B0500030000000000" pitchFamily="34" charset="77"/>
              </a:defRPr>
            </a:lvl3pPr>
            <a:lvl4pPr marL="11113" indent="0"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indent="-285750"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Simplon Norm" panose="020B0500030000000000" pitchFamily="34" charset="77"/>
              </a:defRPr>
            </a:lvl5pPr>
            <a:lvl6pPr marL="515938" indent="-234950"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indent="0">
              <a:spcBef>
                <a:spcPts val="2400"/>
              </a:spcBef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indent="0">
              <a:spcBef>
                <a:spcPts val="2400"/>
              </a:spcBef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0DB01228-1368-B9C5-DDB1-700A4E2491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22" y="1223835"/>
            <a:ext cx="10525328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5670F8-52F3-2DA3-4D6A-FD25D860B3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622" y="646323"/>
            <a:ext cx="10525328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5A06A-AF9A-0331-DB7C-1A0DEFB4F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622" y="380027"/>
            <a:ext cx="10525328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1AEFE-8889-014C-A05B-39DD5BB3E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-4937760"/>
            <a:ext cx="31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178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968512-4931-40C6-9CD9-B083D9945C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40000">
                <a:srgbClr val="000000">
                  <a:alpha val="87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Simplon Norm" panose="020B0500030000000000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D7F490-C9C0-326B-8CAE-89215FF93B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6673AAE-98FC-5DCB-50A3-16C335E88C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99C0E8-7810-924B-3993-D0E6E7C75D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E1004C5-D320-0680-592D-C4FB7A8EA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21501280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Editable Dark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E3C808E-1305-CEC2-5102-20C747DE3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864" b="3864"/>
          <a:stretch/>
        </p:blipFill>
        <p:spPr>
          <a:xfrm>
            <a:off x="-3036175" y="160392"/>
            <a:ext cx="18059346" cy="7928090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A71420-309F-172D-207E-79793066DF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A317192-09B9-7ACA-AE49-F9917C486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9928"/>
            <a:ext cx="12192000" cy="252377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E0856C-B4CF-5F7F-F206-D6D461005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92387"/>
            <a:ext cx="12192000" cy="617541"/>
          </a:xfrm>
          <a:prstGeom prst="rect">
            <a:avLst/>
          </a:prstGeom>
        </p:spPr>
        <p:txBody>
          <a:bodyPr wrap="square" lIns="914400" tIns="0" rIns="91440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2F0E8-2937-F5C4-FCCD-4EEBA6DB16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2000" cy="224292"/>
          </a:xfrm>
          <a:prstGeom prst="rect">
            <a:avLst/>
          </a:prstGeom>
        </p:spPr>
        <p:txBody>
          <a:bodyPr lIns="914400" tIns="0" rIns="91440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666529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978781E-B2C3-4E1B-0FAB-5A6FFB55C5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864" b="3864"/>
          <a:stretch/>
        </p:blipFill>
        <p:spPr>
          <a:xfrm>
            <a:off x="-3036175" y="160392"/>
            <a:ext cx="18059346" cy="7928090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3A1D4-5D52-B290-B903-1A6BEB7CF44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40500"/>
            <a:ext cx="12192000" cy="3175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5F46AA7-FFB3-850E-0610-82838D567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401201"/>
            <a:ext cx="12191999" cy="25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0">
                <a:solidFill>
                  <a:schemeClr val="tx1">
                    <a:lumMod val="90000"/>
                    <a:lumOff val="10000"/>
                  </a:schemeClr>
                </a:solidFill>
                <a:latin typeface="Simplon Norm Light" panose="020B0300030000000000" pitchFamily="34" charset="77"/>
              </a:defRPr>
            </a:lvl1pPr>
          </a:lstStyle>
          <a:p>
            <a:pPr lvl="0"/>
            <a:r>
              <a:rPr lang="en-US" sz="1800"/>
              <a:t>Slide intro text line - Lorem ipsum dolor sit </a:t>
            </a:r>
            <a:r>
              <a:rPr lang="en-US" sz="1800" err="1"/>
              <a:t>amet</a:t>
            </a:r>
            <a:r>
              <a:rPr lang="en-US" sz="1800"/>
              <a:t>, </a:t>
            </a:r>
            <a:r>
              <a:rPr lang="en-US" sz="1800" err="1"/>
              <a:t>consectetur</a:t>
            </a:r>
            <a:r>
              <a:rPr lang="en-US" sz="1800"/>
              <a:t> </a:t>
            </a:r>
            <a:r>
              <a:rPr lang="en-US" sz="1800" err="1"/>
              <a:t>adipiscing</a:t>
            </a:r>
            <a:r>
              <a:rPr lang="en-US" sz="1800"/>
              <a:t> </a:t>
            </a:r>
            <a:r>
              <a:rPr lang="en-US" sz="1800" err="1"/>
              <a:t>elit</a:t>
            </a:r>
            <a:r>
              <a:rPr lang="en-US" sz="1800"/>
              <a:t>.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EF11FC-E3AC-D916-A59A-F2090D3E9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83660"/>
            <a:ext cx="12191999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4800" b="1" i="0">
                <a:solidFill>
                  <a:schemeClr val="tx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590D37-7495-A70B-70AD-8878E7C6F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8640"/>
            <a:ext cx="12191999" cy="22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600" b="0" i="0" spc="600">
                <a:solidFill>
                  <a:schemeClr val="accent1"/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27412875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due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D54E0-7679-D5C9-9199-521FAFA888A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95808525"/>
              </p:ext>
            </p:extLst>
          </p:nvPr>
        </p:nvGraphicFramePr>
        <p:xfrm>
          <a:off x="216243" y="271851"/>
          <a:ext cx="11479429" cy="638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45">
                  <a:extLst>
                    <a:ext uri="{9D8B030D-6E8A-4147-A177-3AD203B41FA5}">
                      <a16:colId xmlns:a16="http://schemas.microsoft.com/office/drawing/2014/main" val="1689011227"/>
                    </a:ext>
                  </a:extLst>
                </a:gridCol>
                <a:gridCol w="183052">
                  <a:extLst>
                    <a:ext uri="{9D8B030D-6E8A-4147-A177-3AD203B41FA5}">
                      <a16:colId xmlns:a16="http://schemas.microsoft.com/office/drawing/2014/main" val="3733357364"/>
                    </a:ext>
                  </a:extLst>
                </a:gridCol>
                <a:gridCol w="136471">
                  <a:extLst>
                    <a:ext uri="{9D8B030D-6E8A-4147-A177-3AD203B41FA5}">
                      <a16:colId xmlns:a16="http://schemas.microsoft.com/office/drawing/2014/main" val="246580004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2743734750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401342346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01582999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1480557861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36749392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118364141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423025176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4101068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19578359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48467656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5880443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21160459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48267904"/>
                    </a:ext>
                  </a:extLst>
                </a:gridCol>
              </a:tblGrid>
              <a:tr h="798555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  <a:t>IT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Cloud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263043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Enterprise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045162"/>
                  </a:ext>
                </a:extLst>
              </a:tr>
              <a:tr h="798555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DMZ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  <a:ea typeface="+mn-ea"/>
                          <a:cs typeface="+mn-cs"/>
                        </a:rPr>
                        <a:t>Air Gap &amp; 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Cross Domain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50E22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/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482574"/>
                  </a:ext>
                </a:extLst>
              </a:tr>
              <a:tr h="798555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  <a:t>OT</a:t>
                      </a:r>
                      <a:b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</a:br>
                      <a:r>
                        <a:rPr lang="en-US" sz="12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Air Gap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Operations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50E22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785895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Supervisor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50E22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309517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12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1.5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4242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120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Control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54911"/>
                  </a:ext>
                </a:extLst>
              </a:tr>
              <a:tr h="798555">
                <a:tc>
                  <a:txBody>
                    <a:bodyPr/>
                    <a:lstStyle/>
                    <a:p>
                      <a:pPr algn="ctr"/>
                      <a:endParaRPr lang="en-US" sz="120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tx1"/>
                          </a:solidFill>
                          <a:latin typeface="Simplon Mono Light" panose="020B0309030000000000" pitchFamily="49" charset="7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Simplon Norm" panose="020B0500030000000000" pitchFamily="34" charset="77"/>
                        </a:rPr>
                        <a:t>Process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tx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2273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9460C5C-5A8C-1A63-5E36-49801F9BCD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888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due Editable Dark">
    <p:bg>
      <p:bgPr>
        <a:gradFill>
          <a:gsLst>
            <a:gs pos="1000">
              <a:schemeClr val="tx1">
                <a:lumMod val="90000"/>
                <a:lumOff val="10000"/>
              </a:schemeClr>
            </a:gs>
            <a:gs pos="56000">
              <a:schemeClr val="tx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B81EAB-AEE3-583F-8594-8B7D44F143B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558780"/>
              </p:ext>
            </p:extLst>
          </p:nvPr>
        </p:nvGraphicFramePr>
        <p:xfrm>
          <a:off x="190367" y="152060"/>
          <a:ext cx="11479429" cy="638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45">
                  <a:extLst>
                    <a:ext uri="{9D8B030D-6E8A-4147-A177-3AD203B41FA5}">
                      <a16:colId xmlns:a16="http://schemas.microsoft.com/office/drawing/2014/main" val="1689011227"/>
                    </a:ext>
                  </a:extLst>
                </a:gridCol>
                <a:gridCol w="183052">
                  <a:extLst>
                    <a:ext uri="{9D8B030D-6E8A-4147-A177-3AD203B41FA5}">
                      <a16:colId xmlns:a16="http://schemas.microsoft.com/office/drawing/2014/main" val="3733357364"/>
                    </a:ext>
                  </a:extLst>
                </a:gridCol>
                <a:gridCol w="136471">
                  <a:extLst>
                    <a:ext uri="{9D8B030D-6E8A-4147-A177-3AD203B41FA5}">
                      <a16:colId xmlns:a16="http://schemas.microsoft.com/office/drawing/2014/main" val="246580004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2743734750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401342346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01582999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1480557861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36749392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1183641417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423025176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4101068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19578359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48467656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15880443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211604594"/>
                    </a:ext>
                  </a:extLst>
                </a:gridCol>
                <a:gridCol w="832497">
                  <a:extLst>
                    <a:ext uri="{9D8B030D-6E8A-4147-A177-3AD203B41FA5}">
                      <a16:colId xmlns:a16="http://schemas.microsoft.com/office/drawing/2014/main" val="3548267904"/>
                    </a:ext>
                  </a:extLst>
                </a:gridCol>
              </a:tblGrid>
              <a:tr h="798555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  <a:t>IT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Cloud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263043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Enterprise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045162"/>
                  </a:ext>
                </a:extLst>
              </a:tr>
              <a:tr h="798555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DMZ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  <a:ea typeface="+mn-ea"/>
                          <a:cs typeface="+mn-cs"/>
                        </a:rPr>
                        <a:t>Air Gap &amp; 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Cross Domain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482574"/>
                  </a:ext>
                </a:extLst>
              </a:tr>
              <a:tr h="798555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  <a:t>OT</a:t>
                      </a:r>
                      <a:br>
                        <a:rPr lang="en-US" sz="2000" b="1" i="0">
                          <a:solidFill>
                            <a:schemeClr val="bg1"/>
                          </a:solidFill>
                          <a:latin typeface="Simplon Norm Bold" panose="020B0500030000000000" pitchFamily="34" charset="77"/>
                        </a:rPr>
                      </a:br>
                      <a:r>
                        <a:rPr lang="en-US" sz="12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Air Gap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Operations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785895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Supervisor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implon Norm" panose="020B0500030000000000" pitchFamily="34" charset="77"/>
                        <a:ea typeface="+mn-ea"/>
                        <a:cs typeface="+mn-cs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309517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4000" b="1" i="0">
                        <a:solidFill>
                          <a:schemeClr val="bg1"/>
                        </a:solidFill>
                        <a:latin typeface="Simplon Norm Bold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12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1.5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chemeClr val="tx1"/>
                      </a:fgClr>
                      <a:bgClr>
                        <a:schemeClr val="tx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4242"/>
                  </a:ext>
                </a:extLst>
              </a:tr>
              <a:tr h="798555">
                <a:tc vMerge="1">
                  <a:txBody>
                    <a:bodyPr/>
                    <a:lstStyle/>
                    <a:p>
                      <a:pPr algn="ctr"/>
                      <a:endParaRPr lang="en-US" sz="120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Control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54911"/>
                  </a:ext>
                </a:extLst>
              </a:tr>
              <a:tr h="798555">
                <a:tc>
                  <a:txBody>
                    <a:bodyPr/>
                    <a:lstStyle/>
                    <a:p>
                      <a:pPr algn="ctr"/>
                      <a:endParaRPr lang="en-US" sz="120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>
                          <a:solidFill>
                            <a:schemeClr val="bg1"/>
                          </a:solidFill>
                          <a:latin typeface="Simplon Mono Light" panose="020B0309030000000000" pitchFamily="49" charset="7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bg1"/>
                          </a:solidFill>
                          <a:latin typeface="Simplon Norm" panose="020B0500030000000000" pitchFamily="34" charset="77"/>
                        </a:rPr>
                        <a:t>Process</a:t>
                      </a:r>
                    </a:p>
                  </a:txBody>
                  <a:tcPr marL="0" marR="0" marT="0" marB="0"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b="0" i="0">
                        <a:solidFill>
                          <a:schemeClr val="bg1"/>
                        </a:solidFill>
                        <a:latin typeface="Simplon Norm" panose="020B0500030000000000" pitchFamily="34" charset="77"/>
                      </a:endParaRPr>
                    </a:p>
                  </a:txBody>
                  <a:tcPr marL="18288" marR="18288" marT="9144" marB="9144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22738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2050F0A-861F-EF4C-A83D-DFF67BAA67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4500" y="0"/>
            <a:ext cx="31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15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CD5D2A6-2D66-4C73-1B67-35A0B4D0B3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914400"/>
            <a:ext cx="2356414" cy="367764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7F259477-0EC1-545C-80C6-79CF5999C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322755"/>
            <a:ext cx="7629236" cy="1359539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>
              <a:lnSpc>
                <a:spcPct val="80000"/>
              </a:lnSpc>
              <a:defRPr sz="5400" b="1" i="0">
                <a:solidFill>
                  <a:schemeClr val="bg1"/>
                </a:solidFill>
                <a:latin typeface="Simplon Norm Bold" panose="020B0500030000000000" pitchFamily="34" charset="77"/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897FC3-587E-F345-4F0F-0A7F75C21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35209"/>
            <a:ext cx="7629236" cy="252377"/>
          </a:xfrm>
          <a:prstGeom prst="rect">
            <a:avLst/>
          </a:prstGeom>
        </p:spPr>
        <p:txBody>
          <a:bodyPr wrap="square" lIns="914400" tIns="0" rIns="0" bIns="0" anchor="b">
            <a:spAutoFit/>
          </a:bodyPr>
          <a:lstStyle>
            <a:lvl1pPr marL="0" indent="0">
              <a:buNone/>
              <a:defRPr sz="1800" b="0" i="0" cap="all" spc="6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/>
              <a:t>Section Lead-in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5390F8-12B1-F523-C472-A3D1F5652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682294"/>
            <a:ext cx="7629236" cy="1175706"/>
          </a:xfrm>
          <a:prstGeom prst="rect">
            <a:avLst/>
          </a:prstGeom>
        </p:spPr>
        <p:txBody>
          <a:bodyPr wrap="square" lIns="914400" tIns="0" rIns="0" bIns="914400" anchor="b">
            <a:spAutoFit/>
          </a:bodyPr>
          <a:lstStyle>
            <a:lvl1pPr marL="0" indent="0">
              <a:buNone/>
              <a:defRPr sz="1800" b="0" i="0" cap="none" spc="0" baseline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1pPr>
            <a:lvl2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2pPr>
            <a:lvl3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3pPr>
            <a:lvl4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4pPr>
            <a:lvl5pPr>
              <a:defRPr b="0" i="0" spc="60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5pPr>
          </a:lstStyle>
          <a:p>
            <a:pPr lvl="0"/>
            <a:r>
              <a:rPr lang="en-US" sz="1800"/>
              <a:t>Section context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7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52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6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30" r:id="rId3"/>
    <p:sldLayoutId id="2147483732" r:id="rId4"/>
    <p:sldLayoutId id="2147483670" r:id="rId5"/>
    <p:sldLayoutId id="2147483729" r:id="rId6"/>
    <p:sldLayoutId id="2147483727" r:id="rId7"/>
    <p:sldLayoutId id="2147483764" r:id="rId8"/>
    <p:sldLayoutId id="2147483765" r:id="rId9"/>
    <p:sldLayoutId id="2147483984" r:id="rId10"/>
    <p:sldLayoutId id="2147483931" r:id="rId11"/>
    <p:sldLayoutId id="2147483960" r:id="rId12"/>
    <p:sldLayoutId id="2147483961" r:id="rId13"/>
    <p:sldLayoutId id="2147483979" r:id="rId14"/>
    <p:sldLayoutId id="2147483723" r:id="rId15"/>
    <p:sldLayoutId id="2147483724" r:id="rId16"/>
    <p:sldLayoutId id="2147483731" r:id="rId17"/>
    <p:sldLayoutId id="2147483725" r:id="rId18"/>
    <p:sldLayoutId id="2147483726" r:id="rId19"/>
    <p:sldLayoutId id="2147483728" r:id="rId20"/>
    <p:sldLayoutId id="2147483753" r:id="rId21"/>
    <p:sldLayoutId id="2147483763" r:id="rId22"/>
    <p:sldLayoutId id="2147483715" r:id="rId23"/>
    <p:sldLayoutId id="2147483716" r:id="rId24"/>
    <p:sldLayoutId id="2147483664" r:id="rId25"/>
    <p:sldLayoutId id="2147483717" r:id="rId26"/>
    <p:sldLayoutId id="2147483767" r:id="rId27"/>
    <p:sldLayoutId id="214748398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1AB7-1AF4-9AE2-5D25-F63B9EB3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9143"/>
            <a:ext cx="7899662" cy="1346202"/>
          </a:xfrm>
        </p:spPr>
        <p:txBody>
          <a:bodyPr anchor="b"/>
          <a:lstStyle/>
          <a:p>
            <a:r>
              <a:rPr lang="en-US"/>
              <a:t>Email</a:t>
            </a:r>
            <a:r>
              <a:rPr lang="en-US">
                <a:latin typeface="Simplon Norm Bold"/>
              </a:rPr>
              <a:t> phishing</a:t>
            </a:r>
            <a:br>
              <a:rPr lang="en-US">
                <a:latin typeface="Simplon Norm Bold"/>
              </a:rPr>
            </a:br>
            <a:endParaRPr lang="en-US">
              <a:latin typeface="Simplon Norm 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2502D-1E60-975E-26FB-22451ABFA1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4822180"/>
            <a:ext cx="7899961" cy="1292405"/>
          </a:xfrm>
        </p:spPr>
        <p:txBody>
          <a:bodyPr/>
          <a:lstStyle/>
          <a:p>
            <a:pPr marL="7620" lvl="1"/>
            <a:r>
              <a:rPr lang="en-US">
                <a:latin typeface="Simplon Norm Light"/>
              </a:rPr>
              <a:t>Prepared by: Internship Team</a:t>
            </a:r>
          </a:p>
          <a:p>
            <a:pPr marL="7620" lvl="1"/>
            <a:r>
              <a:rPr lang="en-US">
                <a:latin typeface="Simplon Norm Light"/>
              </a:rPr>
              <a:t>Date: 03.09.2025</a:t>
            </a:r>
          </a:p>
        </p:txBody>
      </p:sp>
    </p:spTree>
    <p:extLst>
      <p:ext uri="{BB962C8B-B14F-4D97-AF65-F5344CB8AC3E}">
        <p14:creationId xmlns:p14="http://schemas.microsoft.com/office/powerpoint/2010/main" val="3746159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82E697-9D6D-690E-0E71-6C613A62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Overall Flow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969D89-B29E-55B2-C21D-349D20633051}"/>
              </a:ext>
            </a:extLst>
          </p:cNvPr>
          <p:cNvCxnSpPr/>
          <p:nvPr/>
        </p:nvCxnSpPr>
        <p:spPr>
          <a:xfrm>
            <a:off x="1253891" y="3522546"/>
            <a:ext cx="647638" cy="86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8FC621-3550-CBD2-A62C-8D86052E4C93}"/>
              </a:ext>
            </a:extLst>
          </p:cNvPr>
          <p:cNvCxnSpPr>
            <a:cxnSpLocks/>
          </p:cNvCxnSpPr>
          <p:nvPr/>
        </p:nvCxnSpPr>
        <p:spPr>
          <a:xfrm>
            <a:off x="2852233" y="3522546"/>
            <a:ext cx="647638" cy="86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192CF8-C270-736D-E851-D613DFCF83F4}"/>
              </a:ext>
            </a:extLst>
          </p:cNvPr>
          <p:cNvSpPr/>
          <p:nvPr/>
        </p:nvSpPr>
        <p:spPr>
          <a:xfrm>
            <a:off x="1907601" y="3252316"/>
            <a:ext cx="946616" cy="521506"/>
          </a:xfrm>
          <a:prstGeom prst="roundRect">
            <a:avLst/>
          </a:prstGeom>
          <a:solidFill>
            <a:srgbClr val="1854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Parser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93BB4-44A2-9C6B-92B1-A1EFC559D36C}"/>
              </a:ext>
            </a:extLst>
          </p:cNvPr>
          <p:cNvSpPr txBox="1"/>
          <p:nvPr/>
        </p:nvSpPr>
        <p:spPr>
          <a:xfrm>
            <a:off x="5611169" y="5587505"/>
            <a:ext cx="1604288" cy="590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000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Transformer </a:t>
            </a: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000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CE1F1C-116E-0987-4057-C1F77DB82EBD}"/>
              </a:ext>
            </a:extLst>
          </p:cNvPr>
          <p:cNvCxnSpPr/>
          <p:nvPr/>
        </p:nvCxnSpPr>
        <p:spPr>
          <a:xfrm flipH="1" flipV="1">
            <a:off x="883271" y="3773759"/>
            <a:ext cx="3716" cy="748061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75DF54-B6EC-8081-5196-F039E7E11D40}"/>
              </a:ext>
            </a:extLst>
          </p:cNvPr>
          <p:cNvSpPr/>
          <p:nvPr/>
        </p:nvSpPr>
        <p:spPr>
          <a:xfrm>
            <a:off x="513698" y="3252316"/>
            <a:ext cx="742177" cy="521505"/>
          </a:xfrm>
          <a:prstGeom prst="roundRect">
            <a:avLst/>
          </a:prstGeom>
          <a:solidFill>
            <a:srgbClr val="1854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Input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9DA84F4-B6EB-6557-1BDF-11EF3342ABC2}"/>
              </a:ext>
            </a:extLst>
          </p:cNvPr>
          <p:cNvGrpSpPr/>
          <p:nvPr/>
        </p:nvGrpSpPr>
        <p:grpSpPr>
          <a:xfrm>
            <a:off x="1803248" y="2212588"/>
            <a:ext cx="598447" cy="1036134"/>
            <a:chOff x="1803248" y="2212588"/>
            <a:chExt cx="598447" cy="1036134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3C25296-617E-81C0-2724-C0C2DF2AD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9393" y="2212588"/>
              <a:ext cx="3716" cy="1036134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7E2EA6C-9D24-FB5F-DB9C-34B6435D84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3248" y="2226527"/>
              <a:ext cx="598447" cy="4647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E65746-7DB0-3466-9348-9284A639F638}"/>
              </a:ext>
            </a:extLst>
          </p:cNvPr>
          <p:cNvGrpSpPr/>
          <p:nvPr/>
        </p:nvGrpSpPr>
        <p:grpSpPr>
          <a:xfrm>
            <a:off x="3042889" y="3662248"/>
            <a:ext cx="1111405" cy="1528646"/>
            <a:chOff x="3042889" y="3690126"/>
            <a:chExt cx="1102113" cy="142642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FF26D7-6D3D-0718-BE60-B0D6248C5B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0840" y="3690126"/>
              <a:ext cx="5576" cy="1426427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7625BA2-BFCD-6C70-26DD-DAB878972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2889" y="5093320"/>
              <a:ext cx="1102113" cy="4646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7119CF-E601-C17E-AD3C-C4E98F257EBC}"/>
              </a:ext>
            </a:extLst>
          </p:cNvPr>
          <p:cNvCxnSpPr>
            <a:cxnSpLocks/>
          </p:cNvCxnSpPr>
          <p:nvPr/>
        </p:nvCxnSpPr>
        <p:spPr>
          <a:xfrm>
            <a:off x="4664306" y="3513253"/>
            <a:ext cx="647638" cy="86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EBB38B-6D4F-19AB-74B0-648FBAE6890A}"/>
              </a:ext>
            </a:extLst>
          </p:cNvPr>
          <p:cNvSpPr/>
          <p:nvPr/>
        </p:nvSpPr>
        <p:spPr>
          <a:xfrm>
            <a:off x="3505943" y="3252316"/>
            <a:ext cx="1309030" cy="521506"/>
          </a:xfrm>
          <a:prstGeom prst="roundRect">
            <a:avLst/>
          </a:prstGeom>
          <a:solidFill>
            <a:srgbClr val="1854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Normalizer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5EE8A5-613E-80BE-40A9-4E95EE6CFA80}"/>
              </a:ext>
            </a:extLst>
          </p:cNvPr>
          <p:cNvGrpSpPr/>
          <p:nvPr/>
        </p:nvGrpSpPr>
        <p:grpSpPr>
          <a:xfrm>
            <a:off x="5318016" y="1756194"/>
            <a:ext cx="2182542" cy="3718188"/>
            <a:chOff x="5318016" y="1756194"/>
            <a:chExt cx="2182542" cy="37181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A779ABD-AF51-3E92-2D81-765005E7257E}"/>
                </a:ext>
              </a:extLst>
            </p:cNvPr>
            <p:cNvSpPr/>
            <p:nvPr/>
          </p:nvSpPr>
          <p:spPr>
            <a:xfrm>
              <a:off x="5318016" y="1839828"/>
              <a:ext cx="2182542" cy="3634554"/>
            </a:xfrm>
            <a:prstGeom prst="roundRect">
              <a:avLst/>
            </a:prstGeom>
            <a:solidFill>
              <a:srgbClr val="03348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Simplon Norm Bold"/>
                <a:ea typeface="+mj-ea"/>
                <a:cs typeface="+mj-cs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FE45B5D-6EA8-575F-0755-F6F0B0AF6E7E}"/>
                </a:ext>
              </a:extLst>
            </p:cNvPr>
            <p:cNvSpPr/>
            <p:nvPr/>
          </p:nvSpPr>
          <p:spPr>
            <a:xfrm>
              <a:off x="5318016" y="1756194"/>
              <a:ext cx="2182542" cy="3634554"/>
            </a:xfrm>
            <a:prstGeom prst="roundRect">
              <a:avLst/>
            </a:prstGeom>
            <a:solidFill>
              <a:srgbClr val="03348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Simplon Norm Bold"/>
                <a:ea typeface="+mj-ea"/>
                <a:cs typeface="+mj-cs"/>
              </a:endParaRP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48DF6E0-6633-0DAC-4416-71938C89D61F}"/>
              </a:ext>
            </a:extLst>
          </p:cNvPr>
          <p:cNvSpPr/>
          <p:nvPr/>
        </p:nvSpPr>
        <p:spPr>
          <a:xfrm>
            <a:off x="5513160" y="2183658"/>
            <a:ext cx="1801542" cy="642309"/>
          </a:xfrm>
          <a:prstGeom prst="roundRect">
            <a:avLst/>
          </a:prstGeom>
          <a:solidFill>
            <a:srgbClr val="1854C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Intent Detector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E13E28-75A5-98D9-5A63-6235D61716E1}"/>
              </a:ext>
            </a:extLst>
          </p:cNvPr>
          <p:cNvSpPr/>
          <p:nvPr/>
        </p:nvSpPr>
        <p:spPr>
          <a:xfrm>
            <a:off x="5513160" y="3224439"/>
            <a:ext cx="1801542" cy="670187"/>
          </a:xfrm>
          <a:prstGeom prst="roundRect">
            <a:avLst/>
          </a:prstGeom>
          <a:solidFill>
            <a:srgbClr val="1854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Tone Analyzer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9CF1CB2-82EF-9F84-83AD-E840C119B423}"/>
              </a:ext>
            </a:extLst>
          </p:cNvPr>
          <p:cNvSpPr/>
          <p:nvPr/>
        </p:nvSpPr>
        <p:spPr>
          <a:xfrm>
            <a:off x="5513159" y="4320975"/>
            <a:ext cx="1801542" cy="623724"/>
          </a:xfrm>
          <a:prstGeom prst="roundRect">
            <a:avLst/>
          </a:prstGeom>
          <a:solidFill>
            <a:srgbClr val="1854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Grammar Check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EF13E81-1681-1FAF-8B79-E9235DAE055B}"/>
              </a:ext>
            </a:extLst>
          </p:cNvPr>
          <p:cNvSpPr/>
          <p:nvPr/>
        </p:nvSpPr>
        <p:spPr>
          <a:xfrm>
            <a:off x="8152284" y="3140804"/>
            <a:ext cx="1309030" cy="753822"/>
          </a:xfrm>
          <a:prstGeom prst="roundRect">
            <a:avLst/>
          </a:prstGeom>
          <a:solidFill>
            <a:srgbClr val="1854C3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Scoring Engine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0A9E2D-4AA2-986F-0CB8-6F9C66F92AE6}"/>
              </a:ext>
            </a:extLst>
          </p:cNvPr>
          <p:cNvCxnSpPr>
            <a:cxnSpLocks/>
          </p:cNvCxnSpPr>
          <p:nvPr/>
        </p:nvCxnSpPr>
        <p:spPr>
          <a:xfrm>
            <a:off x="7498574" y="3522545"/>
            <a:ext cx="647638" cy="86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D859BF-A6AC-8118-DCDC-E7FE0AC55DF0}"/>
              </a:ext>
            </a:extLst>
          </p:cNvPr>
          <p:cNvCxnSpPr>
            <a:cxnSpLocks/>
          </p:cNvCxnSpPr>
          <p:nvPr/>
        </p:nvCxnSpPr>
        <p:spPr>
          <a:xfrm>
            <a:off x="9487208" y="3531837"/>
            <a:ext cx="647638" cy="86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2331BE-0C7F-F83E-CEF0-49D0C38ABB7A}"/>
              </a:ext>
            </a:extLst>
          </p:cNvPr>
          <p:cNvGrpSpPr/>
          <p:nvPr/>
        </p:nvGrpSpPr>
        <p:grpSpPr>
          <a:xfrm>
            <a:off x="9705742" y="3652954"/>
            <a:ext cx="1120698" cy="1282945"/>
            <a:chOff x="9705742" y="3652954"/>
            <a:chExt cx="1120698" cy="128294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E05B2CC-67FD-F46F-4570-87568D8AA788}"/>
                </a:ext>
              </a:extLst>
            </p:cNvPr>
            <p:cNvCxnSpPr>
              <a:cxnSpLocks/>
            </p:cNvCxnSpPr>
            <p:nvPr/>
          </p:nvCxnSpPr>
          <p:spPr>
            <a:xfrm>
              <a:off x="9705742" y="4373137"/>
              <a:ext cx="1120698" cy="4646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8F8AE7-F862-D3D5-57E0-71FC0231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98563" y="3652954"/>
              <a:ext cx="3716" cy="748061"/>
            </a:xfrm>
            <a:prstGeom prst="straightConnector1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41D1D3B-039B-9BB0-D8B8-DE113765D97D}"/>
                </a:ext>
              </a:extLst>
            </p:cNvPr>
            <p:cNvCxnSpPr>
              <a:cxnSpLocks/>
            </p:cNvCxnSpPr>
            <p:nvPr/>
          </p:nvCxnSpPr>
          <p:spPr>
            <a:xfrm>
              <a:off x="9728819" y="4349593"/>
              <a:ext cx="6443" cy="586306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8A4A34A-B40F-1194-321E-98019F65C6BB}"/>
              </a:ext>
            </a:extLst>
          </p:cNvPr>
          <p:cNvSpPr/>
          <p:nvPr/>
        </p:nvSpPr>
        <p:spPr>
          <a:xfrm>
            <a:off x="8839943" y="4934292"/>
            <a:ext cx="1792249" cy="763114"/>
          </a:xfrm>
          <a:prstGeom prst="roundRect">
            <a:avLst/>
          </a:prstGeom>
          <a:solidFill>
            <a:srgbClr val="1854C3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API Response</a:t>
            </a:r>
          </a:p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Banner Injection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C03481-99F5-819E-F3BE-BDE7832440AF}"/>
              </a:ext>
            </a:extLst>
          </p:cNvPr>
          <p:cNvGrpSpPr/>
          <p:nvPr/>
        </p:nvGrpSpPr>
        <p:grpSpPr>
          <a:xfrm>
            <a:off x="280639" y="1719844"/>
            <a:ext cx="1626916" cy="1029164"/>
            <a:chOff x="280639" y="1719844"/>
            <a:chExt cx="1626916" cy="1029164"/>
          </a:xfrm>
        </p:grpSpPr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46614026-2C35-5EC8-4E86-3B98F9C813D7}"/>
                </a:ext>
              </a:extLst>
            </p:cNvPr>
            <p:cNvSpPr/>
            <p:nvPr/>
          </p:nvSpPr>
          <p:spPr>
            <a:xfrm>
              <a:off x="280639" y="1719844"/>
              <a:ext cx="1626916" cy="1029164"/>
            </a:xfrm>
            <a:prstGeom prst="snip1Rect">
              <a:avLst/>
            </a:prstGeom>
            <a:solidFill>
              <a:srgbClr val="0334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Extract Header and Body</a:t>
              </a:r>
            </a:p>
          </p:txBody>
        </p:sp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A78D7A1D-E03F-B784-8B7B-D7BF5958D87C}"/>
                </a:ext>
              </a:extLst>
            </p:cNvPr>
            <p:cNvSpPr/>
            <p:nvPr/>
          </p:nvSpPr>
          <p:spPr>
            <a:xfrm>
              <a:off x="280639" y="1729136"/>
              <a:ext cx="1626916" cy="908360"/>
            </a:xfrm>
            <a:prstGeom prst="snip1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Extract Header and Body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91F51B-3DB1-E625-2021-1E3AC4554007}"/>
              </a:ext>
            </a:extLst>
          </p:cNvPr>
          <p:cNvGrpSpPr/>
          <p:nvPr/>
        </p:nvGrpSpPr>
        <p:grpSpPr>
          <a:xfrm>
            <a:off x="448943" y="4321794"/>
            <a:ext cx="976617" cy="843311"/>
            <a:chOff x="465408" y="4321794"/>
            <a:chExt cx="846335" cy="843311"/>
          </a:xfrm>
        </p:grpSpPr>
        <p:sp>
          <p:nvSpPr>
            <p:cNvPr id="10" name="Rectangle: Single Corner Snipped 9">
              <a:extLst>
                <a:ext uri="{FF2B5EF4-FFF2-40B4-BE49-F238E27FC236}">
                  <a16:creationId xmlns:a16="http://schemas.microsoft.com/office/drawing/2014/main" id="{4979FDA9-834A-8696-E852-DC35E11B5A09}"/>
                </a:ext>
              </a:extLst>
            </p:cNvPr>
            <p:cNvSpPr/>
            <p:nvPr/>
          </p:nvSpPr>
          <p:spPr>
            <a:xfrm>
              <a:off x="465411" y="4321795"/>
              <a:ext cx="846332" cy="843310"/>
            </a:xfrm>
            <a:prstGeom prst="snip1Rect">
              <a:avLst/>
            </a:prstGeom>
            <a:solidFill>
              <a:srgbClr val="0334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.</a:t>
              </a:r>
              <a:r>
                <a:rPr lang="en-US" sz="1600" err="1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eml</a:t>
              </a:r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 format</a:t>
              </a:r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FD48C19A-96F7-5E67-3E2C-1D32D48B6581}"/>
                </a:ext>
              </a:extLst>
            </p:cNvPr>
            <p:cNvSpPr/>
            <p:nvPr/>
          </p:nvSpPr>
          <p:spPr>
            <a:xfrm>
              <a:off x="465408" y="4321794"/>
              <a:ext cx="846332" cy="750384"/>
            </a:xfrm>
            <a:prstGeom prst="snip1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.</a:t>
              </a:r>
              <a:r>
                <a:rPr lang="en-US" sz="1600" err="1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eml</a:t>
              </a:r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 format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FB70F7-7C14-D808-2F0B-2BD361A66651}"/>
              </a:ext>
            </a:extLst>
          </p:cNvPr>
          <p:cNvGrpSpPr/>
          <p:nvPr/>
        </p:nvGrpSpPr>
        <p:grpSpPr>
          <a:xfrm>
            <a:off x="1618787" y="4628454"/>
            <a:ext cx="2193769" cy="1122093"/>
            <a:chOff x="1618787" y="4628454"/>
            <a:chExt cx="2193769" cy="1122093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4B0EA894-FDCC-7E4E-1816-DE1EF472A65A}"/>
                </a:ext>
              </a:extLst>
            </p:cNvPr>
            <p:cNvSpPr/>
            <p:nvPr/>
          </p:nvSpPr>
          <p:spPr>
            <a:xfrm>
              <a:off x="1618787" y="4628454"/>
              <a:ext cx="2193769" cy="1122093"/>
            </a:xfrm>
            <a:prstGeom prst="snip1Rect">
              <a:avLst/>
            </a:prstGeom>
            <a:solidFill>
              <a:srgbClr val="0334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Remove signatures</a:t>
              </a:r>
            </a:p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Remove reply-chain</a:t>
              </a:r>
            </a:p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Clean text</a:t>
              </a:r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3E95288F-4A80-D335-CA12-70A8700687E8}"/>
                </a:ext>
              </a:extLst>
            </p:cNvPr>
            <p:cNvSpPr/>
            <p:nvPr/>
          </p:nvSpPr>
          <p:spPr>
            <a:xfrm>
              <a:off x="1637372" y="4637747"/>
              <a:ext cx="2175184" cy="982701"/>
            </a:xfrm>
            <a:prstGeom prst="snip1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Remove signatures</a:t>
              </a:r>
            </a:p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Remove reply-chain</a:t>
              </a:r>
            </a:p>
            <a:p>
              <a:pPr algn="ctr"/>
              <a:r>
                <a:rPr lang="en-US" sz="1600">
                  <a:solidFill>
                    <a:schemeClr val="bg2">
                      <a:lumMod val="49000"/>
                    </a:schemeClr>
                  </a:solidFill>
                  <a:latin typeface="Simplon Norm Bold"/>
                </a:rPr>
                <a:t>Clean text</a:t>
              </a: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D53AF9-1E2C-45AC-4FCD-00EF8DE6E16E}"/>
              </a:ext>
            </a:extLst>
          </p:cNvPr>
          <p:cNvSpPr/>
          <p:nvPr/>
        </p:nvSpPr>
        <p:spPr>
          <a:xfrm>
            <a:off x="10140918" y="3150096"/>
            <a:ext cx="1309030" cy="753822"/>
          </a:xfrm>
          <a:prstGeom prst="roundRect">
            <a:avLst/>
          </a:prstGeom>
          <a:solidFill>
            <a:srgbClr val="1854C3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Banner</a:t>
            </a:r>
          </a:p>
          <a:p>
            <a:pPr algn="ctr"/>
            <a:r>
              <a:rPr lang="en-US" sz="16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Selector</a:t>
            </a:r>
          </a:p>
        </p:txBody>
      </p:sp>
    </p:spTree>
    <p:extLst>
      <p:ext uri="{BB962C8B-B14F-4D97-AF65-F5344CB8AC3E}">
        <p14:creationId xmlns:p14="http://schemas.microsoft.com/office/powerpoint/2010/main" val="34586691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B3F4-BFDF-70C3-E0F2-1AC888B6D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924F34-5C46-1D3B-EE0B-42E71EA055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986577"/>
            <a:ext cx="7361750" cy="2637645"/>
          </a:xfrm>
        </p:spPr>
        <p:txBody>
          <a:bodyPr wrap="square" lIns="914400" tIns="0" rIns="914400" bIns="0" anchor="t">
            <a:spAutoFit/>
          </a:bodyPr>
          <a:lstStyle/>
          <a:p>
            <a:pPr algn="l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"/>
              </a:rPr>
              <a:t> .</a:t>
            </a:r>
            <a:r>
              <a:rPr lang="en-US" sz="2000" err="1">
                <a:solidFill>
                  <a:schemeClr val="bg1"/>
                </a:solidFill>
                <a:latin typeface="Simplon Norm"/>
              </a:rPr>
              <a:t>eml</a:t>
            </a:r>
            <a:r>
              <a:rPr lang="en-US" sz="2000">
                <a:solidFill>
                  <a:schemeClr val="bg1"/>
                </a:solidFill>
                <a:latin typeface="Simplon Norm"/>
              </a:rPr>
              <a:t> file </a:t>
            </a:r>
            <a:r>
              <a:rPr lang="en-US" sz="2000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 →</a:t>
            </a:r>
            <a:r>
              <a:rPr lang="en-US" sz="2000">
                <a:solidFill>
                  <a:schemeClr val="bg1"/>
                </a:solidFill>
                <a:latin typeface="Simplon Norm"/>
              </a:rPr>
              <a:t> Parser </a:t>
            </a:r>
            <a:r>
              <a:rPr lang="en-US" sz="2000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→</a:t>
            </a:r>
            <a:r>
              <a:rPr lang="en-US" sz="2000">
                <a:solidFill>
                  <a:schemeClr val="bg1"/>
                </a:solidFill>
                <a:latin typeface="Simplon Norm"/>
              </a:rPr>
              <a:t> Normalizer</a:t>
            </a:r>
            <a:endParaRPr lang="en-US"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>
                <a:solidFill>
                  <a:schemeClr val="bg1"/>
                </a:solidFill>
                <a:latin typeface="Simplon Norm"/>
              </a:rPr>
              <a:t> </a:t>
            </a:r>
            <a:r>
              <a:rPr lang="en-US" sz="1800">
                <a:solidFill>
                  <a:schemeClr val="bg1"/>
                </a:solidFill>
                <a:latin typeface="Simplon Norm"/>
              </a:rPr>
              <a:t>Header </a:t>
            </a:r>
            <a:r>
              <a:rPr lang="en-US" sz="1800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 →</a:t>
            </a:r>
            <a:r>
              <a:rPr lang="en-US" sz="1800">
                <a:solidFill>
                  <a:schemeClr val="bg1"/>
                </a:solidFill>
                <a:latin typeface="Simplon Norm"/>
              </a:rPr>
              <a:t> From, Return-Path, Others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>
                <a:solidFill>
                  <a:schemeClr val="bg1"/>
                </a:solidFill>
                <a:latin typeface="Simplon Norm"/>
              </a:rPr>
              <a:t>  Body    </a:t>
            </a:r>
            <a:r>
              <a:rPr lang="en-US" sz="1800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→</a:t>
            </a:r>
            <a:r>
              <a:rPr lang="en-US" sz="1800">
                <a:solidFill>
                  <a:schemeClr val="bg1"/>
                </a:solidFill>
                <a:latin typeface="Simplon Norm"/>
              </a:rPr>
              <a:t> Plaintext (HTML → text)</a:t>
            </a:r>
          </a:p>
          <a:p>
            <a:pPr algn="l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"/>
              </a:rPr>
              <a:t> </a:t>
            </a:r>
            <a:r>
              <a:rPr lang="en-US" sz="2000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Clean text:</a:t>
            </a:r>
            <a:r>
              <a:rPr lang="en-US" sz="2000">
                <a:solidFill>
                  <a:schemeClr val="bg1"/>
                </a:solidFill>
                <a:latin typeface="Simplon Norm"/>
              </a:rPr>
              <a:t> </a:t>
            </a:r>
            <a:r>
              <a:rPr lang="en-US" sz="1800">
                <a:solidFill>
                  <a:schemeClr val="bg1"/>
                </a:solidFill>
                <a:latin typeface="Simplon Norm"/>
              </a:rPr>
              <a:t>Remove signatures, disclaimers, links, emojis</a:t>
            </a:r>
          </a:p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3F2D0-EBB0-2ECC-AB95-84CA7397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Input &amp; Preprocessing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908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D41FE9-0D3E-FB4E-8640-BBD1B48B3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942938"/>
            <a:ext cx="10538298" cy="1769715"/>
          </a:xfrm>
        </p:spPr>
        <p:txBody>
          <a:bodyPr wrap="square" lIns="0" tIns="0" rIns="0" bIns="45720" anchor="t">
            <a:spAutoFit/>
          </a:bodyPr>
          <a:lstStyle/>
          <a:p>
            <a:pPr marL="353695" indent="-342900">
              <a:buFont typeface="Arial"/>
              <a:buChar char="•"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Simplon Norm"/>
              </a:rPr>
              <a:t>Intent Detector</a:t>
            </a:r>
            <a:r>
              <a:rPr lang="en-US">
                <a:latin typeface="Simplon Norm"/>
              </a:rPr>
              <a:t> - Extracts the most important words influencing each detected phishing intent</a:t>
            </a:r>
            <a:endParaRPr lang="en-US"/>
          </a:p>
          <a:p>
            <a:pPr marL="353695" indent="-342900">
              <a:buFont typeface="Arial"/>
              <a:buChar char="•"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Simplon Norm"/>
              </a:rPr>
              <a:t>Tone/Emotion Analyzer </a:t>
            </a:r>
            <a:r>
              <a:rPr lang="en-US">
                <a:latin typeface="Simplon Norm"/>
              </a:rPr>
              <a:t>- Analyzes the tone and emotion of the message</a:t>
            </a:r>
            <a:endParaRPr lang="en-US"/>
          </a:p>
          <a:p>
            <a:pPr marL="353695" indent="-342900">
              <a:buFont typeface="Arial"/>
              <a:buChar char="•"/>
            </a:pP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Grammar/Fluency Checker</a:t>
            </a:r>
            <a:r>
              <a:rPr lang="en-US">
                <a:latin typeface="Simplon Norm"/>
              </a:rPr>
              <a:t> - Grammar correctness and text fluency</a:t>
            </a:r>
          </a:p>
          <a:p>
            <a:pPr marL="10795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C2151-FDE4-C6A0-51F1-A8BF33F7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pPr algn="ctr"/>
            <a:r>
              <a:rPr lang="en-US">
                <a:latin typeface="Simplon Norm Bold"/>
              </a:rPr>
              <a:t>AI Analysis Flow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8647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39A1-254F-19EA-6B27-961E212E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5267"/>
            <a:ext cx="7629236" cy="681405"/>
          </a:xfrm>
        </p:spPr>
        <p:txBody>
          <a:bodyPr/>
          <a:lstStyle/>
          <a:p>
            <a:r>
              <a:rPr lang="en-US">
                <a:latin typeface="Simplon Norm Bold"/>
              </a:rPr>
              <a:t>Mail structure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93200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6708-7C82-26D0-B7B6-D93F4F65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Header Analysis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71348-D938-0E7F-C570-BD8E991EF007}"/>
              </a:ext>
            </a:extLst>
          </p:cNvPr>
          <p:cNvSpPr txBox="1"/>
          <p:nvPr/>
        </p:nvSpPr>
        <p:spPr>
          <a:xfrm>
            <a:off x="861346" y="1719266"/>
            <a:ext cx="3209484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-448945" defTabSz="182880"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latin typeface="Simplon Norm Medium"/>
              </a:rPr>
              <a:t>What to extract?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5A017-FAD2-122E-7D13-05D41C944FC5}"/>
              </a:ext>
            </a:extLst>
          </p:cNvPr>
          <p:cNvSpPr txBox="1"/>
          <p:nvPr/>
        </p:nvSpPr>
        <p:spPr>
          <a:xfrm>
            <a:off x="861346" y="2448135"/>
            <a:ext cx="9404874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>
                <a:latin typeface="Simplon Norm Medium"/>
              </a:rPr>
              <a:t>From → must mat</a:t>
            </a:r>
            <a:r>
              <a:rPr lang="en-US"/>
              <a:t>ch Return-Pa</a:t>
            </a:r>
            <a:r>
              <a:rPr lang="en-US">
                <a:latin typeface="Simplon Norm Medium"/>
              </a:rPr>
              <a:t>th</a:t>
            </a:r>
            <a:endParaRPr lang="en-US"/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/>
              <a:t>Subject</a:t>
            </a:r>
            <a:endParaRPr lang="en-US">
              <a:latin typeface="SimplonNorm-Regular"/>
            </a:endParaRPr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/>
              <a:t>Received</a:t>
            </a:r>
            <a:r>
              <a:rPr lang="en-US">
                <a:latin typeface="Simplon Norm"/>
              </a:rPr>
              <a:t> headers → read bottom to top (last = source, first = destination)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402E2-8078-B8AE-EFA7-FCC2CA1D9469}"/>
              </a:ext>
            </a:extLst>
          </p:cNvPr>
          <p:cNvSpPr txBox="1"/>
          <p:nvPr/>
        </p:nvSpPr>
        <p:spPr>
          <a:xfrm>
            <a:off x="861346" y="3828570"/>
            <a:ext cx="3982527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-448945" defTabSz="182880"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latin typeface="Simplon Norm Medium"/>
              </a:rPr>
              <a:t>What to Verify in Received?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40DC4-2D47-83D5-A1E5-A98020CB088B}"/>
              </a:ext>
            </a:extLst>
          </p:cNvPr>
          <p:cNvSpPr txBox="1"/>
          <p:nvPr/>
        </p:nvSpPr>
        <p:spPr>
          <a:xfrm>
            <a:off x="861346" y="4557439"/>
            <a:ext cx="9404874" cy="169277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>
                <a:latin typeface="Simplon Norm"/>
              </a:rPr>
              <a:t>Source IP → check in reputation/blacklist databases</a:t>
            </a:r>
            <a:endParaRPr lang="en-US"/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>
                <a:latin typeface="Simplon Norm"/>
              </a:rPr>
              <a:t>Hostname → should align with From domain or reverse DNS lookup</a:t>
            </a:r>
            <a:endParaRPr lang="en-US"/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>
                <a:latin typeface="Simplon Norm"/>
              </a:rPr>
              <a:t>Received order → look for unusual/unknown intermediate servers</a:t>
            </a:r>
            <a:endParaRPr lang="en-US"/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en-US">
                <a:latin typeface="Simplon Norm"/>
              </a:rPr>
              <a:t>Timestamps → spot abnormal delays (botnets often show inconsistent timing)</a:t>
            </a:r>
            <a:endParaRPr lang="en-US"/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703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F5C715-15E2-7CA3-6D7B-4169341C0D68}"/>
              </a:ext>
            </a:extLst>
          </p:cNvPr>
          <p:cNvSpPr txBox="1"/>
          <p:nvPr/>
        </p:nvSpPr>
        <p:spPr>
          <a:xfrm>
            <a:off x="6659172" y="1785527"/>
            <a:ext cx="5120005" cy="41498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-448945" defTabSz="182880">
              <a:spcBef>
                <a:spcPts val="0"/>
              </a:spcBef>
              <a:spcAft>
                <a:spcPts val="600"/>
              </a:spcAft>
            </a:pPr>
            <a:endParaRPr lang="en-US">
              <a:latin typeface="SimplonNorm-Regular"/>
              <a:cs typeface="Arial"/>
            </a:endParaRPr>
          </a:p>
          <a:p>
            <a:pPr marL="285750" indent="-285750" defTabSz="182880">
              <a:buFont typeface="Arial"/>
              <a:buChar char="•"/>
              <a:defRPr/>
            </a:pPr>
            <a:r>
              <a:rPr lang="en-US">
                <a:latin typeface="Simplon Norm"/>
              </a:rPr>
              <a:t>Specifies in DNS which servers can send email for your domain; helps prevent spoofing by checking the sender's IP.</a:t>
            </a:r>
          </a:p>
          <a:p>
            <a:pPr marL="285750" indent="-285750" defTabSz="182880">
              <a:buFont typeface="Arial"/>
              <a:buChar char="•"/>
              <a:defRPr/>
            </a:pPr>
            <a:r>
              <a:rPr lang="en-US">
                <a:latin typeface="SimplonNorm-Regular"/>
              </a:rPr>
              <a:t>Receiving servers check the sender’s IP against the SPF record during SMTP handshake.</a:t>
            </a:r>
          </a:p>
          <a:p>
            <a:pPr marL="285750" indent="-285750" defTabSz="182880">
              <a:buFont typeface="Arial"/>
              <a:buChar char="•"/>
              <a:defRPr/>
            </a:pPr>
            <a:r>
              <a:rPr lang="en-US">
                <a:latin typeface="SimplonNorm-Regular"/>
              </a:rPr>
              <a:t>Results can be</a:t>
            </a: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 </a:t>
            </a:r>
            <a:r>
              <a:rPr lang="en-US" b="1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pass</a:t>
            </a: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, </a:t>
            </a:r>
            <a:r>
              <a:rPr lang="en-US" b="1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fail</a:t>
            </a: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, </a:t>
            </a:r>
            <a:r>
              <a:rPr lang="en-US" b="1" err="1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softfail</a:t>
            </a: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Norm-Regular"/>
              </a:rPr>
              <a:t>, </a:t>
            </a:r>
            <a:r>
              <a:rPr lang="en-US">
                <a:latin typeface="SimplonNorm-Regular"/>
              </a:rPr>
              <a:t>or </a:t>
            </a:r>
            <a:r>
              <a:rPr lang="en-US" b="1">
                <a:latin typeface="SimplonNorm-Regular"/>
              </a:rPr>
              <a:t>neutral,</a:t>
            </a:r>
            <a:r>
              <a:rPr lang="en-US">
                <a:latin typeface="SimplonNorm-Regular"/>
              </a:rPr>
              <a:t> influencing spam filtering decisions.</a:t>
            </a:r>
          </a:p>
          <a:p>
            <a:pPr marL="285750" indent="-285750" defTabSz="182880">
              <a:buFont typeface="Arial"/>
              <a:buChar char="•"/>
              <a:defRPr/>
            </a:pPr>
            <a:r>
              <a:rPr lang="en-US">
                <a:latin typeface="SimplonNorm-Regular"/>
              </a:rPr>
              <a:t>Helps prevent spoofing but doesn’t protect the integrity of the message body.</a:t>
            </a:r>
          </a:p>
          <a:p>
            <a:pPr marL="279400" indent="-279400" defTabSz="182880">
              <a:spcAft>
                <a:spcPts val="600"/>
              </a:spcAft>
              <a:defRPr/>
            </a:pPr>
            <a:endParaRPr lang="en-US">
              <a:latin typeface="SimplonNorm-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6CC3D-1EC6-E08F-E927-FB6ADCF38D04}"/>
              </a:ext>
            </a:extLst>
          </p:cNvPr>
          <p:cNvSpPr txBox="1"/>
          <p:nvPr/>
        </p:nvSpPr>
        <p:spPr>
          <a:xfrm>
            <a:off x="0" y="603857"/>
            <a:ext cx="12192000" cy="13443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SPF (Sender Policy Framework)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 typeface="Arial" panose="020B0604020202020204" pitchFamily="34" charset="0"/>
              <a:defRPr/>
            </a:pPr>
            <a:endParaRPr lang="en-US" sz="4800" b="1">
              <a:solidFill>
                <a:schemeClr val="bg1"/>
              </a:solidFill>
              <a:latin typeface="Simplon Norm Bold"/>
              <a:ea typeface="+mj-ea"/>
              <a:cs typeface="Arial"/>
            </a:endParaRPr>
          </a:p>
        </p:txBody>
      </p:sp>
      <p:pic>
        <p:nvPicPr>
          <p:cNvPr id="6" name="Picture 5" descr="A diagram of a server&#10;&#10;AI-generated content may be incorrect.">
            <a:extLst>
              <a:ext uri="{FF2B5EF4-FFF2-40B4-BE49-F238E27FC236}">
                <a16:creationId xmlns:a16="http://schemas.microsoft.com/office/drawing/2014/main" id="{E65F1078-1620-FE7B-FF83-15ABD8C9E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6" b="7026"/>
          <a:stretch/>
        </p:blipFill>
        <p:spPr>
          <a:xfrm>
            <a:off x="531003" y="2153822"/>
            <a:ext cx="5419126" cy="3777920"/>
          </a:xfrm>
          <a:prstGeom prst="roundRect">
            <a:avLst>
              <a:gd name="adj" fmla="val 2536"/>
            </a:avLst>
          </a:prstGeom>
        </p:spPr>
      </p:pic>
    </p:spTree>
    <p:extLst>
      <p:ext uri="{BB962C8B-B14F-4D97-AF65-F5344CB8AC3E}">
        <p14:creationId xmlns:p14="http://schemas.microsoft.com/office/powerpoint/2010/main" val="38016762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D195-DD60-6459-2716-26B52297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BCA2EB0-775A-61B8-03A8-4A84A2E37176}"/>
              </a:ext>
            </a:extLst>
          </p:cNvPr>
          <p:cNvSpPr txBox="1"/>
          <p:nvPr/>
        </p:nvSpPr>
        <p:spPr>
          <a:xfrm>
            <a:off x="6476257" y="2206940"/>
            <a:ext cx="5120005" cy="36625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53695" indent="-342900">
              <a:buFont typeface="Arial"/>
              <a:buChar char="•"/>
            </a:pPr>
            <a:r>
              <a:rPr lang="en-US">
                <a:latin typeface="Simplon Norm"/>
              </a:rPr>
              <a:t>Adds a cryptographic signature to email headers and body, created with the sender’s private key.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The recipient’s server verifies the signature using the sender’s public key published in DNS.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Ensures message integrity (detects if headers or body were altered in transit).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Provides domain-level authentication but doesn’t guarantee the sender’s identity alone.</a:t>
            </a:r>
          </a:p>
          <a:p>
            <a:pPr marL="0" indent="-448945" defTabSz="182880">
              <a:spcBef>
                <a:spcPts val="0"/>
              </a:spcBef>
              <a:spcAft>
                <a:spcPts val="600"/>
              </a:spcAft>
              <a:defRPr/>
            </a:pPr>
            <a:endParaRPr lang="en-US">
              <a:latin typeface="SimplonNorm-Regular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C9FE9-42D3-8FE8-54F6-D77C8EFD78E5}"/>
              </a:ext>
            </a:extLst>
          </p:cNvPr>
          <p:cNvSpPr txBox="1"/>
          <p:nvPr/>
        </p:nvSpPr>
        <p:spPr>
          <a:xfrm>
            <a:off x="0" y="603857"/>
            <a:ext cx="12192000" cy="14773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4800">
                <a:solidFill>
                  <a:schemeClr val="bg1"/>
                </a:solidFill>
                <a:latin typeface="Simplon Norm Bold"/>
                <a:ea typeface="+mn-lt"/>
                <a:cs typeface="+mn-lt"/>
              </a:rPr>
              <a:t>  </a:t>
            </a:r>
            <a: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DKIM (DomainKeys Identified Mail)</a:t>
            </a:r>
          </a:p>
          <a:p>
            <a:pPr algn="ctr">
              <a:defRPr/>
            </a:pPr>
            <a:endParaRPr lang="en-US" sz="4800" b="1">
              <a:solidFill>
                <a:schemeClr val="bg1"/>
              </a:solidFill>
              <a:latin typeface="Simplon Norm Bold"/>
              <a:ea typeface="+mj-ea"/>
              <a:cs typeface="+mj-cs"/>
            </a:endParaRPr>
          </a:p>
        </p:txBody>
      </p:sp>
      <p:pic>
        <p:nvPicPr>
          <p:cNvPr id="6" name="Picture 5" descr="A diagram of a server&#10;&#10;AI-generated content may be incorrect.">
            <a:extLst>
              <a:ext uri="{FF2B5EF4-FFF2-40B4-BE49-F238E27FC236}">
                <a16:creationId xmlns:a16="http://schemas.microsoft.com/office/drawing/2014/main" id="{2FF3E754-483D-850E-2CC0-7B5544CE2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04" b="8204"/>
          <a:stretch/>
        </p:blipFill>
        <p:spPr>
          <a:xfrm>
            <a:off x="531003" y="2153822"/>
            <a:ext cx="5419126" cy="3777920"/>
          </a:xfrm>
          <a:prstGeom prst="roundRect">
            <a:avLst>
              <a:gd name="adj" fmla="val 2536"/>
            </a:avLst>
          </a:prstGeom>
        </p:spPr>
      </p:pic>
    </p:spTree>
    <p:extLst>
      <p:ext uri="{BB962C8B-B14F-4D97-AF65-F5344CB8AC3E}">
        <p14:creationId xmlns:p14="http://schemas.microsoft.com/office/powerpoint/2010/main" val="3178756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0879-D8FD-086E-E9DC-1F61C83E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9F91341-0AC2-C2B8-F624-3430C568CE29}"/>
              </a:ext>
            </a:extLst>
          </p:cNvPr>
          <p:cNvSpPr txBox="1"/>
          <p:nvPr/>
        </p:nvSpPr>
        <p:spPr>
          <a:xfrm>
            <a:off x="6622066" y="2312522"/>
            <a:ext cx="5120005" cy="414472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11113" lvl="0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Simplon Norm" panose="020B0500030000000000" pitchFamily="34" charset="77"/>
              </a:defRPr>
            </a:lvl1pPr>
            <a:lvl2pPr marL="11113" lvl="1" indent="0">
              <a:lnSpc>
                <a:spcPct val="133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2pPr>
            <a:lvl3pPr marL="11113" lvl="2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implon Norm" panose="020B0500030000000000" pitchFamily="34" charset="77"/>
              </a:defRPr>
            </a:lvl3pPr>
            <a:lvl4pPr marL="11113" lvl="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4pPr>
            <a:lvl5pPr marL="296863" lvl="4" indent="-285750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Simplon Norm" panose="020B0500030000000000" pitchFamily="34" charset="77"/>
              </a:defRPr>
            </a:lvl5pPr>
            <a:lvl6pPr marL="515938" lvl="5" indent="-234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</a:defRPr>
            </a:lvl6pPr>
            <a:lvl7pPr marL="11113" lvl="6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16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Simplon Norm" panose="020B0500030000000000" pitchFamily="34" charset="77"/>
              </a:defRPr>
            </a:lvl7pPr>
            <a:lvl8pPr marL="11113" lvl="7"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tabLst/>
              <a:defRPr sz="2000" b="0" i="1">
                <a:solidFill>
                  <a:schemeClr val="bg1">
                    <a:lumMod val="85000"/>
                  </a:schemeClr>
                </a:solidFill>
                <a:latin typeface="Simplon Norm Light Italic" panose="020B0500030000000000" pitchFamily="34" charset="77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53695" indent="-342900">
              <a:buFont typeface="Arial"/>
              <a:buChar char="•"/>
            </a:pPr>
            <a:r>
              <a:rPr lang="en-US">
                <a:latin typeface="Simplon Norm"/>
              </a:rPr>
              <a:t>Builds on SPF and DKIM, requiring domain alignment between the “From” header and authenticated domain.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Domain owners publish a DNS TXT record specifying the DMARC policy (</a:t>
            </a:r>
            <a:r>
              <a:rPr lang="en-US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none, quarantine, reject</a:t>
            </a:r>
            <a:r>
              <a:rPr lang="en-US">
                <a:latin typeface="Simplon Norm"/>
              </a:rPr>
              <a:t>).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Helps receiving servers decide how to handle emails failing SPF/DKIM checks.</a:t>
            </a:r>
          </a:p>
          <a:p>
            <a:pPr marL="353695" indent="-342900">
              <a:buFont typeface="Arial"/>
              <a:buChar char="•"/>
              <a:defRPr/>
            </a:pPr>
            <a:r>
              <a:rPr lang="en-US">
                <a:latin typeface="Simplon Norm"/>
              </a:rPr>
              <a:t>Provides reporting (aggregate and forensic) so domain owners can monitor spoofing attempts.</a:t>
            </a:r>
          </a:p>
          <a:p>
            <a:pPr marL="0" defTabSz="182880">
              <a:defRPr/>
            </a:pPr>
            <a:endParaRPr lang="en-US">
              <a:latin typeface="Simplon Nor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143F9-E9C8-CC7C-49BB-4A853D25C588}"/>
              </a:ext>
            </a:extLst>
          </p:cNvPr>
          <p:cNvSpPr txBox="1"/>
          <p:nvPr/>
        </p:nvSpPr>
        <p:spPr>
          <a:xfrm>
            <a:off x="0" y="400657"/>
            <a:ext cx="12192000" cy="295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4800">
                <a:solidFill>
                  <a:schemeClr val="bg1"/>
                </a:solidFill>
                <a:latin typeface="Simplon Norm Bold"/>
                <a:ea typeface="+mn-lt"/>
                <a:cs typeface="+mn-lt"/>
              </a:rPr>
              <a:t>  </a:t>
            </a:r>
            <a: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DMARC (Domain-based Message Authentication, Reporting &amp; Conformance)</a:t>
            </a:r>
          </a:p>
          <a:p>
            <a:pPr algn="ctr">
              <a:defRPr/>
            </a:pPr>
            <a:b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</a:br>
            <a:endParaRPr lang="en-US" sz="4800" b="1">
              <a:solidFill>
                <a:schemeClr val="bg1"/>
              </a:solidFill>
              <a:latin typeface="Simplon Norm Bold"/>
              <a:ea typeface="+mj-ea"/>
              <a:cs typeface="+mj-cs"/>
            </a:endParaRPr>
          </a:p>
        </p:txBody>
      </p:sp>
      <p:pic>
        <p:nvPicPr>
          <p:cNvPr id="6" name="Picture 5" descr="A diagram of a document&#10;&#10;AI-generated content may be incorrect.">
            <a:extLst>
              <a:ext uri="{FF2B5EF4-FFF2-40B4-BE49-F238E27FC236}">
                <a16:creationId xmlns:a16="http://schemas.microsoft.com/office/drawing/2014/main" id="{24251644-B829-1B7E-B644-0A6BB434C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9" b="6839"/>
          <a:stretch/>
        </p:blipFill>
        <p:spPr>
          <a:xfrm>
            <a:off x="439563" y="2316382"/>
            <a:ext cx="5419126" cy="3777920"/>
          </a:xfrm>
          <a:prstGeom prst="roundRect">
            <a:avLst>
              <a:gd name="adj" fmla="val 2536"/>
            </a:avLst>
          </a:prstGeom>
        </p:spPr>
      </p:pic>
    </p:spTree>
    <p:extLst>
      <p:ext uri="{BB962C8B-B14F-4D97-AF65-F5344CB8AC3E}">
        <p14:creationId xmlns:p14="http://schemas.microsoft.com/office/powerpoint/2010/main" val="271198134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03D6-0794-9B3E-7F7E-B42E0E0A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97D4-FE12-EE88-4F67-65CE64EF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2387"/>
            <a:ext cx="12192000" cy="605679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Key Differences: Phishing vs. Safe Email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18FFA3-988A-8D40-743B-FEC45C37D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041643"/>
              </p:ext>
            </p:extLst>
          </p:nvPr>
        </p:nvGraphicFramePr>
        <p:xfrm>
          <a:off x="949738" y="2396434"/>
          <a:ext cx="10295103" cy="28803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794565">
                  <a:extLst>
                    <a:ext uri="{9D8B030D-6E8A-4147-A177-3AD203B41FA5}">
                      <a16:colId xmlns:a16="http://schemas.microsoft.com/office/drawing/2014/main" val="2945201560"/>
                    </a:ext>
                  </a:extLst>
                </a:gridCol>
                <a:gridCol w="3050759">
                  <a:extLst>
                    <a:ext uri="{9D8B030D-6E8A-4147-A177-3AD203B41FA5}">
                      <a16:colId xmlns:a16="http://schemas.microsoft.com/office/drawing/2014/main" val="371701201"/>
                    </a:ext>
                  </a:extLst>
                </a:gridCol>
                <a:gridCol w="3009347">
                  <a:extLst>
                    <a:ext uri="{9D8B030D-6E8A-4147-A177-3AD203B41FA5}">
                      <a16:colId xmlns:a16="http://schemas.microsoft.com/office/drawing/2014/main" val="4122514133"/>
                    </a:ext>
                  </a:extLst>
                </a:gridCol>
                <a:gridCol w="2440432">
                  <a:extLst>
                    <a:ext uri="{9D8B030D-6E8A-4147-A177-3AD203B41FA5}">
                      <a16:colId xmlns:a16="http://schemas.microsoft.com/office/drawing/2014/main" val="1705972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Area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Email 1 – “Confidential Update” (phishing/test)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83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Email 2 – “Welcome to OPSWAT - HR Training” (safe)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Why it matters ?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82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Sender (From)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Human Resources HR@opswat.com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83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Ioana Marta ioana.marta@opswat.com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Simplon Norm Medium"/>
                        </a:rPr>
                        <a:t>Phish: generic role; Safe: real person</a:t>
                      </a:r>
                    </a:p>
                    <a:p>
                      <a:pPr lvl="0">
                        <a:buNone/>
                      </a:pP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2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>
                          <a:latin typeface="Simplon Norm Medium"/>
                        </a:rPr>
                        <a:t>Reply-To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HR.17xyia4n@opswat.employeeportal.net-login.com (different and suspicious)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identical to From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>
                          <a:latin typeface="Simplon Norm Medium"/>
                        </a:rPr>
                        <a:t>Reply-To mismatch, fake domain</a:t>
                      </a: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755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7351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A483-62FE-8BA4-F22E-DC7B8437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1935-D6A5-0D07-41BA-0597B0A1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2387"/>
            <a:ext cx="12192000" cy="605679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Key Differences: Phishing vs. Safe Email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98DD7C-EF4D-A96F-9997-1E24C6CC4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48640"/>
              </p:ext>
            </p:extLst>
          </p:nvPr>
        </p:nvGraphicFramePr>
        <p:xfrm>
          <a:off x="949738" y="2396434"/>
          <a:ext cx="10295103" cy="28803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794565">
                  <a:extLst>
                    <a:ext uri="{9D8B030D-6E8A-4147-A177-3AD203B41FA5}">
                      <a16:colId xmlns:a16="http://schemas.microsoft.com/office/drawing/2014/main" val="2945201560"/>
                    </a:ext>
                  </a:extLst>
                </a:gridCol>
                <a:gridCol w="3050759">
                  <a:extLst>
                    <a:ext uri="{9D8B030D-6E8A-4147-A177-3AD203B41FA5}">
                      <a16:colId xmlns:a16="http://schemas.microsoft.com/office/drawing/2014/main" val="371701201"/>
                    </a:ext>
                  </a:extLst>
                </a:gridCol>
                <a:gridCol w="3009347">
                  <a:extLst>
                    <a:ext uri="{9D8B030D-6E8A-4147-A177-3AD203B41FA5}">
                      <a16:colId xmlns:a16="http://schemas.microsoft.com/office/drawing/2014/main" val="4122514133"/>
                    </a:ext>
                  </a:extLst>
                </a:gridCol>
                <a:gridCol w="2440432">
                  <a:extLst>
                    <a:ext uri="{9D8B030D-6E8A-4147-A177-3AD203B41FA5}">
                      <a16:colId xmlns:a16="http://schemas.microsoft.com/office/drawing/2014/main" val="1705972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Simplon Norm Medium"/>
                        </a:rPr>
                        <a:t>Area</a:t>
                      </a:r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Simplon Norm Medium"/>
                        </a:rPr>
                        <a:t>Email 1 – “Confidential Update” (phishing/test)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83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Simplon Norm Medium"/>
                        </a:rPr>
                        <a:t>Email 2 – “Welcome to OPSWAT - HR Training” (safe)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Simplon Norm Medium"/>
                        </a:rPr>
                        <a:t>Why it matters ?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82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FFFFFF"/>
                          </a:solidFill>
                          <a:latin typeface="Simplon Norm Medium"/>
                        </a:rPr>
                        <a:t>Subject</a:t>
                      </a:r>
                      <a:endParaRPr lang="en-US"/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FFFFFF"/>
                          </a:solidFill>
                          <a:latin typeface="Simplon Norm Medium"/>
                        </a:rPr>
                        <a:t>“Confidential Update” (vague, confidential)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Simplon Norm Medium"/>
                      </a:endParaRPr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83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FFFFFF"/>
                          </a:solidFill>
                          <a:latin typeface="Simplon Norm Medium"/>
                        </a:rPr>
                        <a:t>“Welcome to OPSWAT - HR Training”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FFFFFF"/>
                          </a:solidFill>
                          <a:latin typeface="Simplon Norm Medium"/>
                        </a:rPr>
                        <a:t>Phish: vague subject; Safe: clear HR topic</a:t>
                      </a:r>
                      <a:endParaRPr lang="en-US"/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2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Simplon Norm Medium"/>
                        </a:rPr>
                        <a:t>Authentication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Simplon Norm Medium"/>
                        </a:rPr>
                        <a:t>SPF = pass, DKIM = none, </a:t>
                      </a:r>
                      <a:r>
                        <a:rPr lang="en-US" b="1">
                          <a:latin typeface="Simplon Norm Medium"/>
                        </a:rPr>
                        <a:t>DMARC = fail</a:t>
                      </a:r>
                      <a:r>
                        <a:rPr lang="en-US">
                          <a:latin typeface="Simplon Norm Medium"/>
                        </a:rPr>
                        <a:t>, </a:t>
                      </a:r>
                      <a:r>
                        <a:rPr lang="en-US" err="1">
                          <a:latin typeface="Simplon Norm Medium"/>
                        </a:rPr>
                        <a:t>compauth</a:t>
                      </a:r>
                      <a:r>
                        <a:rPr lang="en-US">
                          <a:latin typeface="Simplon Norm Medium"/>
                        </a:rPr>
                        <a:t> = fail</a:t>
                      </a:r>
                    </a:p>
                  </a:txBody>
                  <a:tcPr marB="182880"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8173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Simplon Norm Medium"/>
                        </a:rPr>
                        <a:t>SPF = pass, DKIM = none, </a:t>
                      </a:r>
                      <a:r>
                        <a:rPr lang="en-US" sz="1800" b="1" i="0" u="none" strike="noStrike" noProof="0">
                          <a:latin typeface="Simplon Norm Medium"/>
                        </a:rPr>
                        <a:t>DMARC = pass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FFFFFF"/>
                          </a:solidFill>
                          <a:latin typeface="Simplon Norm Medium"/>
                        </a:rPr>
                        <a:t>DMARC fail = strong phish signal; pass = trusted</a:t>
                      </a:r>
                      <a:endParaRPr lang="en-US">
                        <a:latin typeface="Simplon Norm Medium"/>
                      </a:endParaRPr>
                    </a:p>
                  </a:txBody>
                  <a:tcPr marB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9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755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1486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2E13-1477-51A5-3847-93084129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2395"/>
            <a:ext cx="7629236" cy="2408673"/>
          </a:xfrm>
        </p:spPr>
        <p:txBody>
          <a:bodyPr/>
          <a:lstStyle/>
          <a:p>
            <a:r>
              <a:rPr lang="en-US" sz="4800">
                <a:latin typeface="Simplon Norm Bold"/>
              </a:rPr>
              <a:t>NLP/ML for Phishing detection</a:t>
            </a:r>
          </a:p>
          <a:p>
            <a:endParaRPr lang="en-US" sz="3200">
              <a:solidFill>
                <a:srgbClr val="000000"/>
              </a:solidFill>
              <a:latin typeface="Simplon Norm Bold"/>
            </a:endParaRPr>
          </a:p>
          <a:p>
            <a:endParaRPr lang="en-US" sz="6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AE7B2-DCF3-67FC-9FC9-E5DE8857FC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27114"/>
            <a:ext cx="7629236" cy="1259768"/>
          </a:xfrm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3527547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9675-61A5-FE00-3E62-3A862E09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74FC-E9FD-D1C6-AA09-BB2C8B74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26" y="427953"/>
            <a:ext cx="11982174" cy="1196610"/>
          </a:xfrm>
        </p:spPr>
        <p:txBody>
          <a:bodyPr wrap="square" lIns="914400" tIns="0" rIns="914400" bIns="0" anchor="t">
            <a:spAutoFit/>
          </a:bodyPr>
          <a:lstStyle/>
          <a:p>
            <a:pPr algn="l"/>
            <a:r>
              <a:rPr lang="en-US">
                <a:latin typeface="Simplon Norm Bold"/>
              </a:rPr>
              <a:t>Arhitecture preview : </a:t>
            </a:r>
          </a:p>
          <a:p>
            <a:endParaRPr lang="en-US"/>
          </a:p>
        </p:txBody>
      </p:sp>
      <p:pic>
        <p:nvPicPr>
          <p:cNvPr id="3" name="Picture 2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724FA0EE-DFF6-CA07-1A4E-4D045A808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587" y="1621459"/>
            <a:ext cx="7987609" cy="460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717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6933-46A6-E4D7-CF62-EBF7265D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BE7F-941B-4C63-F3CC-677BDA39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26" y="427953"/>
            <a:ext cx="11982174" cy="1196610"/>
          </a:xfrm>
        </p:spPr>
        <p:txBody>
          <a:bodyPr wrap="square" lIns="914400" tIns="0" rIns="914400" bIns="0" anchor="t">
            <a:spAutoFit/>
          </a:bodyPr>
          <a:lstStyle/>
          <a:p>
            <a:pPr algn="l"/>
            <a:endParaRPr lang="en-US">
              <a:latin typeface="Simplon Norm Bold"/>
            </a:endParaRP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4BBC6-E050-97F6-3C2B-BDF040463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9" y="1146852"/>
            <a:ext cx="11979089" cy="45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6939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CF85-5500-ADA1-D60E-76B25CB0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4B78E81-174A-6411-DDBF-D77236437FB9}"/>
              </a:ext>
            </a:extLst>
          </p:cNvPr>
          <p:cNvSpPr txBox="1"/>
          <p:nvPr/>
        </p:nvSpPr>
        <p:spPr>
          <a:xfrm>
            <a:off x="1970182" y="381371"/>
            <a:ext cx="7963696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Intent Classification (</a:t>
            </a:r>
            <a:r>
              <a:rPr lang="en-US" sz="4800" b="1" err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MiniLM</a:t>
            </a:r>
            <a:r>
              <a:rPr lang="en-US" sz="4800" b="1">
                <a:solidFill>
                  <a:schemeClr val="bg1"/>
                </a:solidFill>
                <a:latin typeface="Simplon Norm Bold"/>
                <a:ea typeface="+mj-ea"/>
                <a:cs typeface="+mj-cs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8229F-E392-406F-BBDA-8B20031F0F09}"/>
              </a:ext>
            </a:extLst>
          </p:cNvPr>
          <p:cNvSpPr txBox="1"/>
          <p:nvPr/>
        </p:nvSpPr>
        <p:spPr>
          <a:xfrm>
            <a:off x="501751" y="2172281"/>
            <a:ext cx="8783981" cy="37600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Compact Transformer for Fast Text Classification :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Performs semantic classification of emails into relevant categories (e.g.,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payment_request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credential_harvest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giftcard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vendor_invoice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, etc.)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Supports multi-label classification (an email can belong to multiple categories simultaneously)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Trained on labeled email datasets for high domain-specific accuracy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Outputs intent labels along with their associated probabilities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>
              <a:solidFill>
                <a:schemeClr val="bg1"/>
              </a:solidFill>
              <a:latin typeface="Simplon Norm 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Link: https://arxiv.org/pdf/2002.10957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>
              <a:solidFill>
                <a:schemeClr val="bg1">
                  <a:lumMod val="85000"/>
                </a:schemeClr>
              </a:solidFill>
              <a:latin typeface="Simplon Norm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4CE39-8BE2-02D5-2A31-3479ABF6F5EB}"/>
              </a:ext>
            </a:extLst>
          </p:cNvPr>
          <p:cNvSpPr txBox="1"/>
          <p:nvPr/>
        </p:nvSpPr>
        <p:spPr>
          <a:xfrm>
            <a:off x="331229" y="3132876"/>
            <a:ext cx="2580828" cy="13249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3077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process&#10;&#10;AI-generated content may be incorrect.">
            <a:extLst>
              <a:ext uri="{FF2B5EF4-FFF2-40B4-BE49-F238E27FC236}">
                <a16:creationId xmlns:a16="http://schemas.microsoft.com/office/drawing/2014/main" id="{CCAB1109-7307-E82E-952C-ACF0E044C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0436" y="922482"/>
            <a:ext cx="13810961" cy="52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1631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4C10-CBD1-ECB2-FE64-026754E9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400D3-E9E6-C94E-CE04-342045ED67E1}"/>
              </a:ext>
            </a:extLst>
          </p:cNvPr>
          <p:cNvSpPr txBox="1"/>
          <p:nvPr/>
        </p:nvSpPr>
        <p:spPr>
          <a:xfrm>
            <a:off x="331229" y="2652678"/>
            <a:ext cx="5549863" cy="22878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Detects emotions and manipulative tones in text - e.g. urgency, fear, authority, flattery -and outputs labels with confidence scores. It can capture both subtle emotional states and persuasive intent, making it useful for analyzing emails.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>
              <a:solidFill>
                <a:schemeClr val="bg1"/>
              </a:solidFill>
              <a:latin typeface="Simplon Norm 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Link : https://huggingface.co/boltuix/NeuroFeel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E8F70-53DD-B6F2-BE30-C406B644F47E}"/>
              </a:ext>
            </a:extLst>
          </p:cNvPr>
          <p:cNvSpPr txBox="1"/>
          <p:nvPr/>
        </p:nvSpPr>
        <p:spPr>
          <a:xfrm>
            <a:off x="331229" y="3132876"/>
            <a:ext cx="2580828" cy="13249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19E77-EC75-112F-77EC-F7A918037438}"/>
              </a:ext>
            </a:extLst>
          </p:cNvPr>
          <p:cNvSpPr txBox="1"/>
          <p:nvPr/>
        </p:nvSpPr>
        <p:spPr>
          <a:xfrm>
            <a:off x="1896667" y="357009"/>
            <a:ext cx="797153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  <a:latin typeface="Simplon Norm Light"/>
              </a:rPr>
              <a:t>Tone / Sentiment Analysis (</a:t>
            </a:r>
            <a:r>
              <a:rPr lang="en-US" sz="4800" b="1" err="1">
                <a:solidFill>
                  <a:schemeClr val="bg1"/>
                </a:solidFill>
                <a:latin typeface="Simplon Norm Light"/>
              </a:rPr>
              <a:t>boltuix</a:t>
            </a:r>
            <a:r>
              <a:rPr lang="en-US" sz="4800" b="1">
                <a:solidFill>
                  <a:schemeClr val="bg1"/>
                </a:solidFill>
                <a:latin typeface="Simplon Norm Light"/>
              </a:rPr>
              <a:t>/</a:t>
            </a:r>
            <a:r>
              <a:rPr lang="en-US" sz="4800" b="1" err="1">
                <a:solidFill>
                  <a:schemeClr val="bg1"/>
                </a:solidFill>
                <a:latin typeface="Simplon Norm Light"/>
              </a:rPr>
              <a:t>NeuroFeel</a:t>
            </a:r>
            <a:r>
              <a:rPr lang="en-US" sz="4800" b="1">
                <a:solidFill>
                  <a:schemeClr val="bg1"/>
                </a:solidFill>
                <a:latin typeface="Simplon Norm Light"/>
              </a:rPr>
              <a:t>)</a:t>
            </a:r>
          </a:p>
        </p:txBody>
      </p:sp>
      <p:pic>
        <p:nvPicPr>
          <p:cNvPr id="4" name="Picture 3" descr="A pink emoji with a chip and a chip&#10;&#10;AI-generated content may be incorrect.">
            <a:extLst>
              <a:ext uri="{FF2B5EF4-FFF2-40B4-BE49-F238E27FC236}">
                <a16:creationId xmlns:a16="http://schemas.microsoft.com/office/drawing/2014/main" id="{E721EBDC-DC29-6C2A-3B25-46225CEB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151" y="2295152"/>
            <a:ext cx="5892053" cy="33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338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31FD3DC-870D-C6AB-86A5-A64FEB71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6841"/>
            <a:ext cx="12192000" cy="1196610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Light"/>
                <a:ea typeface="+mn-ea"/>
                <a:cs typeface="+mn-cs"/>
              </a:rPr>
              <a:t>Grammar Classification and Pattern Recognition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D4D58F-ED7B-AD2B-6D0B-14BD01590DA8}"/>
              </a:ext>
            </a:extLst>
          </p:cNvPr>
          <p:cNvSpPr txBox="1"/>
          <p:nvPr/>
        </p:nvSpPr>
        <p:spPr>
          <a:xfrm>
            <a:off x="380655" y="1923697"/>
            <a:ext cx="1121326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implon Norm Light"/>
              </a:rPr>
              <a:t>The model analyzes text to evaluate how well it follows English grammar and punctuation rules, producing a score that indicates the percentage of correctness. It can also be fine-tuned to estimate the likelihood that a specific person authored the text, based on their writing style. For this purpose, we plan to use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MiniLM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 (with fine-tuning), 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BERTweet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 (pre-trained on informal language) or 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agentlans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/snowflake-arctic-</a:t>
            </a:r>
            <a:r>
              <a:rPr lang="en-US" sz="2000" err="1">
                <a:solidFill>
                  <a:schemeClr val="bg1"/>
                </a:solidFill>
                <a:latin typeface="Simplon Norm Light"/>
              </a:rPr>
              <a:t>xs</a:t>
            </a:r>
            <a:r>
              <a:rPr lang="en-US" sz="2000">
                <a:solidFill>
                  <a:schemeClr val="bg1"/>
                </a:solidFill>
                <a:latin typeface="Simplon Norm Light"/>
              </a:rPr>
              <a:t>-grammar-classifier.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FE44C-E836-243E-A498-A8874516D31E}"/>
              </a:ext>
            </a:extLst>
          </p:cNvPr>
          <p:cNvSpPr txBox="1"/>
          <p:nvPr/>
        </p:nvSpPr>
        <p:spPr>
          <a:xfrm>
            <a:off x="384597" y="6119104"/>
            <a:ext cx="6527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implon Norm Light"/>
              </a:rPr>
              <a:t>Link: https://arxiv.org/pdf/2306.06598</a:t>
            </a:r>
          </a:p>
        </p:txBody>
      </p:sp>
      <p:pic>
        <p:nvPicPr>
          <p:cNvPr id="15" name="Picture 1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E5A29D1-C211-CF42-D894-D351A771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895" y="3546382"/>
            <a:ext cx="7151593" cy="24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284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3B29-9C0A-083C-32F5-32101024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1B1A8D-E1BA-4183-CAF9-BA48AFDF8A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942938"/>
            <a:ext cx="10538298" cy="2678682"/>
          </a:xfrm>
        </p:spPr>
        <p:txBody>
          <a:bodyPr wrap="square" lIns="0" tIns="0" rIns="0" bIns="45720" anchor="t">
            <a:spAutoFit/>
          </a:bodyPr>
          <a:lstStyle/>
          <a:p>
            <a:pPr marL="10795">
              <a:buFont typeface="Arial"/>
              <a:buChar char="•"/>
            </a:pPr>
            <a:r>
              <a:rPr lang="en-US" b="1">
                <a:solidFill>
                  <a:schemeClr val="tx1">
                    <a:lumMod val="25000"/>
                    <a:lumOff val="75000"/>
                  </a:schemeClr>
                </a:solidFill>
                <a:latin typeface="Simplon Norm"/>
              </a:rPr>
              <a:t> S</a:t>
            </a: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Simplon Norm"/>
              </a:rPr>
              <a:t>coring: </a:t>
            </a:r>
            <a:r>
              <a:rPr lang="en-US" err="1">
                <a:solidFill>
                  <a:srgbClr val="FFFFFF"/>
                </a:solidFill>
                <a:latin typeface="Simplon Norm"/>
              </a:rPr>
              <a:t>RiskScore</a:t>
            </a:r>
            <a:r>
              <a:rPr lang="en-US">
                <a:solidFill>
                  <a:srgbClr val="FFFFFF"/>
                </a:solidFill>
                <a:latin typeface="Simplon Norm"/>
              </a:rPr>
              <a:t> = w1*Intent + w2*Tone + w3*Grammar </a:t>
            </a:r>
            <a:r>
              <a:rPr lang="en-US" sz="1800">
                <a:solidFill>
                  <a:srgbClr val="D9D9D9"/>
                </a:solidFill>
                <a:latin typeface="Simplon Norm"/>
              </a:rPr>
              <a:t>(example)</a:t>
            </a:r>
          </a:p>
          <a:p>
            <a:pPr marL="10795">
              <a:buFont typeface="Arial"/>
              <a:buChar char="•"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Simplon Norm"/>
              </a:rPr>
              <a:t> Banner selection:</a:t>
            </a:r>
          </a:p>
          <a:p>
            <a:pPr marL="10795"/>
            <a:r>
              <a:rPr lang="ro-RO" sz="1800">
                <a:solidFill>
                  <a:srgbClr val="D9D9D9"/>
                </a:solidFill>
                <a:latin typeface="Simplon Norm"/>
              </a:rPr>
              <a:t>	</a:t>
            </a:r>
            <a:r>
              <a:rPr lang="en-US" sz="1800">
                <a:solidFill>
                  <a:srgbClr val="D9D9D9"/>
                </a:solidFill>
                <a:latin typeface="Simplon Norm"/>
              </a:rPr>
              <a:t>⚠️ Suspicious: Payment Request</a:t>
            </a:r>
          </a:p>
          <a:p>
            <a:pPr marL="10795"/>
            <a:r>
              <a:rPr lang="ro-RO" sz="1800">
                <a:solidFill>
                  <a:srgbClr val="D9D9D9"/>
                </a:solidFill>
                <a:latin typeface="Simplon Norm"/>
              </a:rPr>
              <a:t>	</a:t>
            </a:r>
            <a:r>
              <a:rPr lang="en-US" sz="1800">
                <a:solidFill>
                  <a:srgbClr val="D9D9D9"/>
                </a:solidFill>
                <a:latin typeface="Simplon Norm"/>
              </a:rPr>
              <a:t>🚨 High Risk: Credential Theft</a:t>
            </a:r>
          </a:p>
          <a:p>
            <a:pPr marL="10795">
              <a:buFont typeface="Arial"/>
              <a:buChar char="•"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Simplon Norm"/>
              </a:rPr>
              <a:t> API Response (JSON): </a:t>
            </a:r>
            <a:r>
              <a:rPr lang="en-US">
                <a:solidFill>
                  <a:srgbClr val="FFFFFF"/>
                </a:solidFill>
                <a:latin typeface="Simplon Norm"/>
              </a:rPr>
              <a:t>risk score + banner + optional explanation</a:t>
            </a:r>
          </a:p>
          <a:p>
            <a:pPr marL="353695" indent="-342900">
              <a:buFont typeface="Arial"/>
              <a:buChar char="•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67CE90-3100-32C0-2A86-E790EE2A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pPr algn="ctr"/>
            <a:r>
              <a:rPr lang="en-US">
                <a:latin typeface="Simplon Norm Bold"/>
              </a:rPr>
              <a:t>Risk &amp; Response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8079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F981-4F44-B3B1-FB4C-96E766CD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ED1B-D5D3-E591-1A3F-749DFF7C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352" y="2193150"/>
            <a:ext cx="7629236" cy="1833964"/>
          </a:xfrm>
        </p:spPr>
        <p:txBody>
          <a:bodyPr/>
          <a:lstStyle/>
          <a:p>
            <a:r>
              <a:rPr lang="ro-RO" sz="4800">
                <a:latin typeface="Simplon Norm Bold"/>
              </a:rPr>
              <a:t>Market &amp; Competitors</a:t>
            </a:r>
            <a:endParaRPr lang="en-US" sz="4800">
              <a:latin typeface="Simplon Norm Bold"/>
            </a:endParaRPr>
          </a:p>
          <a:p>
            <a:endParaRPr lang="en-US" sz="3200">
              <a:solidFill>
                <a:srgbClr val="000000"/>
              </a:solidFill>
              <a:latin typeface="Simplon Norm Bold"/>
            </a:endParaRPr>
          </a:p>
          <a:p>
            <a:endParaRPr lang="en-US" sz="6600"/>
          </a:p>
        </p:txBody>
      </p:sp>
    </p:spTree>
    <p:extLst>
      <p:ext uri="{BB962C8B-B14F-4D97-AF65-F5344CB8AC3E}">
        <p14:creationId xmlns:p14="http://schemas.microsoft.com/office/powerpoint/2010/main" val="3986772706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C2846-BF17-4E25-8C19-F51C78E3B9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26178" y="1422441"/>
            <a:ext cx="6783153" cy="4734629"/>
          </a:xfrm>
        </p:spPr>
        <p:txBody>
          <a:bodyPr wrap="square" lIns="914400" tIns="0" rIns="914400" bIns="0" anchor="t">
            <a:sp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Features used by other companies:</a:t>
            </a: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Common features: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Multi-strategy detection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Risk score and labeling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UI (banners and buttons)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Protection policies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Feedback loop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M365 integrations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Cloud architecture and scalability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Anti-spoofing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Social graph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Approximate string matching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4987FD-B1CE-9EEB-8C47-F65666F2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78" y="285704"/>
            <a:ext cx="12078730" cy="605679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Competitors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B2CEB5D-0121-A4A0-49AF-E17A35D22884}"/>
              </a:ext>
            </a:extLst>
          </p:cNvPr>
          <p:cNvSpPr txBox="1">
            <a:spLocks/>
          </p:cNvSpPr>
          <p:nvPr/>
        </p:nvSpPr>
        <p:spPr>
          <a:xfrm>
            <a:off x="5365691" y="1060803"/>
            <a:ext cx="7739942" cy="4434547"/>
          </a:xfrm>
          <a:prstGeom prst="rect">
            <a:avLst/>
          </a:prstGeom>
        </p:spPr>
        <p:txBody>
          <a:bodyPr wrap="square" lIns="914400" tIns="0" rIns="914400" bIns="0" anchor="t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har char="•"/>
            </a:pPr>
            <a:endParaRPr lang="en-US" sz="2000">
              <a:latin typeface="Simplon Norm Light"/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Specific features:</a:t>
            </a:r>
          </a:p>
          <a:p>
            <a:pPr marL="971550" lvl="1" indent="-285750"/>
            <a:r>
              <a:rPr lang="en-US" sz="2000">
                <a:solidFill>
                  <a:schemeClr val="bg1"/>
                </a:solidFill>
                <a:latin typeface="Simplon Norm Light"/>
              </a:rPr>
              <a:t>Egress Defend: </a:t>
            </a:r>
            <a:endParaRPr lang="en-US" sz="2000">
              <a:solidFill>
                <a:schemeClr val="bg1"/>
              </a:solidFill>
              <a:latin typeface="Arial" panose="020B0604020202020204"/>
              <a:cs typeface="Arial"/>
            </a:endParaRP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automated training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971550" lvl="1" indent="-285750"/>
            <a:r>
              <a:rPr lang="en-US" sz="2000">
                <a:solidFill>
                  <a:schemeClr val="bg1"/>
                </a:solidFill>
                <a:latin typeface="Simplon Norm Light"/>
              </a:rPr>
              <a:t>Proofpoint: 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Nexus (AI ensemble platform)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Supernova (Behavioral detection engine)</a:t>
            </a:r>
          </a:p>
          <a:p>
            <a:pPr marL="971550" lvl="1" indent="-285750"/>
            <a:r>
              <a:rPr lang="en-US" sz="2000">
                <a:solidFill>
                  <a:schemeClr val="bg1"/>
                </a:solidFill>
                <a:latin typeface="Simplon Norm Light"/>
              </a:rPr>
              <a:t>Darktrace/Email: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"Self-Learning AI"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"Pattern of life"</a:t>
            </a:r>
          </a:p>
          <a:p>
            <a:pPr marL="971550" lvl="1" indent="-285750"/>
            <a:r>
              <a:rPr lang="en-US" sz="2000">
                <a:solidFill>
                  <a:schemeClr val="bg1"/>
                </a:solidFill>
                <a:latin typeface="Simplon Norm Light"/>
              </a:rPr>
              <a:t>Abnormal Security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Advanced user behavior </a:t>
            </a:r>
          </a:p>
          <a:p>
            <a:pPr marL="1428750" lvl="2" indent="-171450"/>
            <a:r>
              <a:rPr lang="en-US">
                <a:solidFill>
                  <a:schemeClr val="bg1"/>
                </a:solidFill>
                <a:latin typeface="Simplon Norm Light"/>
              </a:rPr>
              <a:t>Defense in depth</a:t>
            </a:r>
          </a:p>
        </p:txBody>
      </p:sp>
    </p:spTree>
    <p:extLst>
      <p:ext uri="{BB962C8B-B14F-4D97-AF65-F5344CB8AC3E}">
        <p14:creationId xmlns:p14="http://schemas.microsoft.com/office/powerpoint/2010/main" val="349336716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06DB22-B902-5A2A-6F9D-3F23B6030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945388"/>
            <a:ext cx="12192000" cy="4329390"/>
          </a:xfrm>
        </p:spPr>
        <p:txBody>
          <a:bodyPr wrap="square" lIns="914400" tIns="0" rIns="914400" bIns="0" anchor="t">
            <a:sp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Multi-strategy detection: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Standard checks: SPF/DKIM/DMARC, IP/domain reputation, domain age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NLP/NLU/LLM: language analysis, tone, intent (urgency, fraud, payment request, etc.)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Behavior/identity analysis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Threat Intelligence 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Link and attachment analysis: URL rewrite, time-of-click checks, sandboxing</a:t>
            </a:r>
          </a:p>
          <a:p>
            <a:pPr marL="285750" indent="-285750" algn="l"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Risk score: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Aggregated score from the many models used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Different levels of risk based on the obtained score + labeling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212B0E-4E5A-4E41-5374-AD967EAD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Common features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4213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8AE0-2DD0-20E6-3B89-E219476A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128840-582F-5B16-EE76-7034FA4729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329525"/>
            <a:ext cx="6858000" cy="5416868"/>
          </a:xfrm>
        </p:spPr>
        <p:txBody>
          <a:bodyPr wrap="square" lIns="914400" tIns="0" rIns="914400" bIns="0" anchor="t">
            <a:sp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UI: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Banners (based on risk score)</a:t>
            </a: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Button for false positive/negative reports</a:t>
            </a:r>
          </a:p>
          <a:p>
            <a:pPr algn="l"/>
            <a:endParaRPr lang="en-US" sz="2000">
              <a:solidFill>
                <a:schemeClr val="bg1"/>
              </a:solidFill>
              <a:latin typeface="Simplon Norm Light"/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Protection policies: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Quarantine / blocking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Configurable policies, whitelisting, VIP roles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Feedback loop: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User reports feed back into the training loop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Allows false positive/negative reduction through self-correction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6481EB-97ED-004B-19C5-49E8F657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6606"/>
            <a:ext cx="12192000" cy="617541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Common features</a:t>
            </a:r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32684CB-BD57-DFD7-9FDC-CD03E81F7E3C}"/>
              </a:ext>
            </a:extLst>
          </p:cNvPr>
          <p:cNvSpPr txBox="1">
            <a:spLocks/>
          </p:cNvSpPr>
          <p:nvPr/>
        </p:nvSpPr>
        <p:spPr>
          <a:xfrm>
            <a:off x="6106899" y="1329525"/>
            <a:ext cx="6869974" cy="7037824"/>
          </a:xfrm>
          <a:prstGeom prst="rect">
            <a:avLst/>
          </a:prstGeom>
        </p:spPr>
        <p:txBody>
          <a:bodyPr wrap="square" lIns="914400" tIns="0" rIns="914400" bIns="0" anchor="t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spc="0">
                <a:solidFill>
                  <a:schemeClr val="bg1">
                    <a:lumMod val="85000"/>
                  </a:schemeClr>
                </a:solidFill>
                <a:latin typeface="Simplon Norm Light" panose="020B0300030000000000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Cloud architecture and scalability: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Cloud-native / SaaS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AWS / Azure / GCP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Small latency (only a few seconds)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Anti-spoofing: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Domain look-alikes &amp; new domains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Approximate string matches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en-US" sz="2000">
                <a:solidFill>
                  <a:schemeClr val="bg1"/>
                </a:solidFill>
                <a:latin typeface="Simplon Norm Light"/>
              </a:rPr>
              <a:t>Social graphs: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Relationships between users: frequence, writing style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Simplon Norm Light"/>
              </a:rPr>
              <a:t>Deviations from the "pattern of life"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29720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74449A-AD21-AC65-9BE5-79C2F578A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09928"/>
            <a:ext cx="12192000" cy="470898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Simplon Norm Light"/>
              </a:rPr>
              <a:t>Proofpoint</a:t>
            </a:r>
            <a:endParaRPr lang="en-US" sz="3400" b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EB056F-0EC4-7AEC-D8A3-4BBCB2D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Specific features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970FD06B-61FF-DC47-1B5E-40D880B67291}"/>
              </a:ext>
            </a:extLst>
          </p:cNvPr>
          <p:cNvSpPr txBox="1">
            <a:spLocks/>
          </p:cNvSpPr>
          <p:nvPr/>
        </p:nvSpPr>
        <p:spPr>
          <a:xfrm>
            <a:off x="-346081" y="2340966"/>
            <a:ext cx="10584493" cy="3699474"/>
          </a:xfrm>
          <a:prstGeom prst="rect">
            <a:avLst/>
          </a:prstGeom>
        </p:spPr>
        <p:txBody>
          <a:bodyPr wrap="square" lIns="914400" tIns="0" rIns="914400" bIns="0" anchor="t">
            <a:sp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Simplon Norm Bold" panose="020B0500030000000000" pitchFamily="34" charset="77"/>
                <a:ea typeface="+mj-ea"/>
                <a:cs typeface="+mj-cs"/>
              </a:defRPr>
            </a:lvl1pPr>
          </a:lstStyle>
          <a:p>
            <a:pPr algn="l"/>
            <a:r>
              <a:rPr lang="en-US" sz="2000" b="0">
                <a:latin typeface="Simplon Norm Light"/>
              </a:rPr>
              <a:t>Nexus platform: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LLMs - detects payments &amp; urgency in BEC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Generative AI – detects subtle variations in links / content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Threat Intelligence – integrates compromised account indices in real-time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Relationship graph – maps relations between users to catch anomalies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Machine learning – traditional models for unknown threats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Computer vision – infected attachments, QRs, fake pages</a:t>
            </a: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  <a:p>
            <a:pPr algn="l"/>
            <a:r>
              <a:rPr lang="en-US" sz="2000" b="0">
                <a:latin typeface="Simplon Norm Light"/>
              </a:rPr>
              <a:t>Supernova Behavioral Engine: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Analyzes communication behavior between users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Stops non-malware threats like BEC, supplier fraud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Minimizes false positives through contextual detection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Delivers smart in-email banners </a:t>
            </a: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</p:txBody>
      </p:sp>
    </p:spTree>
    <p:extLst>
      <p:ext uri="{BB962C8B-B14F-4D97-AF65-F5344CB8AC3E}">
        <p14:creationId xmlns:p14="http://schemas.microsoft.com/office/powerpoint/2010/main" val="48869304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688B-87FF-3046-F761-1C294CB5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90D41C-825E-A669-7794-E30E99C68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09928"/>
            <a:ext cx="12192000" cy="470898"/>
          </a:xfrm>
        </p:spPr>
        <p:txBody>
          <a:bodyPr wrap="square" lIns="914400" tIns="0" rIns="914400" bIns="0" anchor="t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Simplon Norm Light"/>
              </a:rPr>
              <a:t>Abnormal Security</a:t>
            </a:r>
            <a:endParaRPr lang="en-US" sz="3400" b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383D0D-A0E9-C07E-E641-EDF1881E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914400" tIns="0" rIns="914400" bIns="0" anchor="t">
            <a:spAutoFit/>
          </a:bodyPr>
          <a:lstStyle/>
          <a:p>
            <a:r>
              <a:rPr lang="en-US">
                <a:latin typeface="Simplon Norm Bold"/>
              </a:rPr>
              <a:t>Specific features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17079CD1-F4C0-5353-8FD1-EF71F4F830A7}"/>
              </a:ext>
            </a:extLst>
          </p:cNvPr>
          <p:cNvSpPr txBox="1">
            <a:spLocks/>
          </p:cNvSpPr>
          <p:nvPr/>
        </p:nvSpPr>
        <p:spPr>
          <a:xfrm>
            <a:off x="-346081" y="2340966"/>
            <a:ext cx="10187836" cy="3207032"/>
          </a:xfrm>
          <a:prstGeom prst="rect">
            <a:avLst/>
          </a:prstGeom>
        </p:spPr>
        <p:txBody>
          <a:bodyPr wrap="square" lIns="914400" tIns="0" rIns="914400" bIns="0" anchor="t">
            <a:sp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Simplon Norm Bold" panose="020B0500030000000000" pitchFamily="34" charset="77"/>
                <a:ea typeface="+mj-ea"/>
                <a:cs typeface="+mj-cs"/>
              </a:defRPr>
            </a:lvl1pPr>
          </a:lstStyle>
          <a:p>
            <a:pPr algn="l"/>
            <a:r>
              <a:rPr lang="en-US" sz="2000" b="0">
                <a:latin typeface="Simplon Norm Light"/>
              </a:rPr>
              <a:t>Tech Stack: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Python, Django and GO ( </a:t>
            </a:r>
            <a:r>
              <a:rPr lang="en-US" sz="2000" b="0" err="1">
                <a:latin typeface="Simplon Norm Light"/>
              </a:rPr>
              <a:t>golang</a:t>
            </a:r>
            <a:r>
              <a:rPr lang="en-US" sz="2000" b="0">
                <a:latin typeface="Simplon Norm Light"/>
              </a:rPr>
              <a:t> )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Cloud / Infra / Container – AWS, ECS, Docker, Azure, Terraform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Databases / Storage – MySQL, PostgreSQL, Redis (cache)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ML / NLP – BERT, ensemble models, LLMs</a:t>
            </a: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  <a:p>
            <a:pPr algn="l"/>
            <a:r>
              <a:rPr lang="en-US" sz="2000" b="0">
                <a:latin typeface="Simplon Norm Light"/>
              </a:rPr>
              <a:t>Training style: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Hybrid training: mix between supervised and unsupervised models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Feature extractor &amp; pipelines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Retraining and feedback loop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b="0">
                <a:latin typeface="Simplon Norm Light"/>
              </a:rPr>
              <a:t>Resistance to adversary ML</a:t>
            </a:r>
          </a:p>
          <a:p>
            <a:pPr marL="342900" indent="-342900" algn="l">
              <a:buFont typeface="Arial"/>
              <a:buChar char="•"/>
            </a:pPr>
            <a:endParaRPr lang="en-US" sz="2000" b="0">
              <a:latin typeface="Simplon Norm Light"/>
            </a:endParaRPr>
          </a:p>
        </p:txBody>
      </p:sp>
    </p:spTree>
    <p:extLst>
      <p:ext uri="{BB962C8B-B14F-4D97-AF65-F5344CB8AC3E}">
        <p14:creationId xmlns:p14="http://schemas.microsoft.com/office/powerpoint/2010/main" val="276410925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9789-3FE3-A445-8342-1D83FC79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2F9C-A9DC-2255-E294-0B9C78BB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21930"/>
            <a:ext cx="7629236" cy="694742"/>
          </a:xfrm>
        </p:spPr>
        <p:txBody>
          <a:bodyPr/>
          <a:lstStyle/>
          <a:p>
            <a:r>
              <a:rPr lang="ro-RO"/>
              <a:t>Thank you!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1981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vers And Dividers">
  <a:themeElements>
    <a:clrScheme name="OPSWAT 2023">
      <a:dk1>
        <a:srgbClr val="050E22"/>
      </a:dk1>
      <a:lt1>
        <a:srgbClr val="FFFFFF"/>
      </a:lt1>
      <a:dk2>
        <a:srgbClr val="0D2553"/>
      </a:dk2>
      <a:lt2>
        <a:srgbClr val="6D7C98"/>
      </a:lt2>
      <a:accent1>
        <a:srgbClr val="2571FB"/>
      </a:accent1>
      <a:accent2>
        <a:srgbClr val="03E7F5"/>
      </a:accent2>
      <a:accent3>
        <a:srgbClr val="00FFB2"/>
      </a:accent3>
      <a:accent4>
        <a:srgbClr val="FF003C"/>
      </a:accent4>
      <a:accent5>
        <a:srgbClr val="FFD600"/>
      </a:accent5>
      <a:accent6>
        <a:srgbClr val="FF6B00"/>
      </a:accent6>
      <a:hlink>
        <a:srgbClr val="2672FB"/>
      </a:hlink>
      <a:folHlink>
        <a:srgbClr val="C64C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 Templates">
  <a:themeElements>
    <a:clrScheme name="OPSWAT 2023">
      <a:dk1>
        <a:srgbClr val="050E22"/>
      </a:dk1>
      <a:lt1>
        <a:srgbClr val="FFFFFF"/>
      </a:lt1>
      <a:dk2>
        <a:srgbClr val="0D2553"/>
      </a:dk2>
      <a:lt2>
        <a:srgbClr val="6D7C98"/>
      </a:lt2>
      <a:accent1>
        <a:srgbClr val="2571FB"/>
      </a:accent1>
      <a:accent2>
        <a:srgbClr val="03E7F5"/>
      </a:accent2>
      <a:accent3>
        <a:srgbClr val="00FFB2"/>
      </a:accent3>
      <a:accent4>
        <a:srgbClr val="FF003C"/>
      </a:accent4>
      <a:accent5>
        <a:srgbClr val="FFD600"/>
      </a:accent5>
      <a:accent6>
        <a:srgbClr val="FF6B00"/>
      </a:accent6>
      <a:hlink>
        <a:srgbClr val="2672FB"/>
      </a:hlink>
      <a:folHlink>
        <a:srgbClr val="C64C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FCFF3A-9651-4FFE-8813-6DDBB0ECAE4C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C63E883D46794DB35E480BCA5F2E74" ma:contentTypeVersion="21" ma:contentTypeDescription="Create a new document." ma:contentTypeScope="" ma:versionID="9aed81903f67c72fa30d0e84efdc2d8f">
  <xsd:schema xmlns:xsd="http://www.w3.org/2001/XMLSchema" xmlns:xs="http://www.w3.org/2001/XMLSchema" xmlns:p="http://schemas.microsoft.com/office/2006/metadata/properties" xmlns:ns2="db37af55-157b-48de-8f19-da8c39e4590a" xmlns:ns3="6014be5b-fb09-4900-b3ab-3fa109961dc1" targetNamespace="http://schemas.microsoft.com/office/2006/metadata/properties" ma:root="true" ma:fieldsID="e69e302d4bad74138a00b058540d2892" ns2:_="" ns3:_="">
    <xsd:import namespace="db37af55-157b-48de-8f19-da8c39e4590a"/>
    <xsd:import namespace="6014be5b-fb09-4900-b3ab-3fa109961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Link" minOccurs="0"/>
                <xsd:element ref="ns2:TranslatedLa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7af55-157b-48de-8f19-da8c39e459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d0180f-07b7-41dc-a380-9ae02daf0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ink" ma:index="2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ranslatedLang" ma:index="27" nillable="true" ma:displayName="Translated Language" ma:internalName="TranslatedLang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4be5b-fb09-4900-b3ab-3fa109961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d454f4e-d81b-40ad-8285-1390d03e55ad}" ma:internalName="TaxCatchAll" ma:showField="CatchAllData" ma:web="6014be5b-fb09-4900-b3ab-3fa109961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014be5b-fb09-4900-b3ab-3fa109961dc1" xsi:nil="true"/>
    <lcf76f155ced4ddcb4097134ff3c332f xmlns="db37af55-157b-48de-8f19-da8c39e4590a">
      <Terms xmlns="http://schemas.microsoft.com/office/infopath/2007/PartnerControls"/>
    </lcf76f155ced4ddcb4097134ff3c332f>
    <Link xmlns="db37af55-157b-48de-8f19-da8c39e4590a">
      <Url xsi:nil="true"/>
      <Description xsi:nil="true"/>
    </Link>
    <TranslatedLang xmlns="db37af55-157b-48de-8f19-da8c39e4590a" xsi:nil="true"/>
  </documentManagement>
</p:properties>
</file>

<file path=customXml/itemProps1.xml><?xml version="1.0" encoding="utf-8"?>
<ds:datastoreItem xmlns:ds="http://schemas.openxmlformats.org/officeDocument/2006/customXml" ds:itemID="{3B43CD8F-2D9F-4FD4-BEE0-30ABF5B434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556B1-9835-4526-B4FC-B7240ED50278}">
  <ds:schemaRefs>
    <ds:schemaRef ds:uri="6014be5b-fb09-4900-b3ab-3fa109961dc1"/>
    <ds:schemaRef ds:uri="db37af55-157b-48de-8f19-da8c39e459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4E32CD-821D-404E-82D5-9EEB51187C47}">
  <ds:schemaRefs>
    <ds:schemaRef ds:uri="6014be5b-fb09-4900-b3ab-3fa109961dc1"/>
    <ds:schemaRef ds:uri="db37af55-157b-48de-8f19-da8c39e459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Covers And Dividers</vt:lpstr>
      <vt:lpstr>Content Templates</vt:lpstr>
      <vt:lpstr>Email phishing </vt:lpstr>
      <vt:lpstr>Overall Flow</vt:lpstr>
      <vt:lpstr>Input &amp; Preprocessing</vt:lpstr>
      <vt:lpstr>AI Analysis Flow</vt:lpstr>
      <vt:lpstr>Mail structure</vt:lpstr>
      <vt:lpstr>Header Analysis</vt:lpstr>
      <vt:lpstr>PowerPoint Presentation</vt:lpstr>
      <vt:lpstr>PowerPoint Presentation</vt:lpstr>
      <vt:lpstr>PowerPoint Presentation</vt:lpstr>
      <vt:lpstr>Key Differences: Phishing vs. Safe Email</vt:lpstr>
      <vt:lpstr>Key Differences: Phishing vs. Safe Email</vt:lpstr>
      <vt:lpstr>NLP/ML for Phishing detection  </vt:lpstr>
      <vt:lpstr>Arhitecture preview :  </vt:lpstr>
      <vt:lpstr> </vt:lpstr>
      <vt:lpstr>PowerPoint Presentation</vt:lpstr>
      <vt:lpstr>PowerPoint Presentation</vt:lpstr>
      <vt:lpstr>PowerPoint Presentation</vt:lpstr>
      <vt:lpstr>Grammar Classification and Pattern Recognition</vt:lpstr>
      <vt:lpstr>Risk &amp; Response</vt:lpstr>
      <vt:lpstr>Market &amp; Competitors  </vt:lpstr>
      <vt:lpstr>Competitors</vt:lpstr>
      <vt:lpstr>Common features</vt:lpstr>
      <vt:lpstr>Common features</vt:lpstr>
      <vt:lpstr>Specific features</vt:lpstr>
      <vt:lpstr>Specific features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Bartolone</dc:creator>
  <cp:revision>2</cp:revision>
  <dcterms:created xsi:type="dcterms:W3CDTF">2023-10-03T19:14:31Z</dcterms:created>
  <dcterms:modified xsi:type="dcterms:W3CDTF">2025-09-10T08:53:38Z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0x010100A7C63E883D46794DB35E480BCA5F2E74</vt:lpwstr>
  </property>
  <property fmtid="{D5CDD505-2E9C-101B-9397-08002B2CF9AE}" pid="3" name="MediaServiceImageTags">
    <vt:lpwstr/>
  </property>
</Properties>
</file>